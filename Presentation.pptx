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Open Sauce Bold" charset="1" panose="00000800000000000000"/>
      <p:regular r:id="rId30"/>
    </p:embeddedFont>
    <p:embeddedFont>
      <p:font typeface="Open Sans" charset="1" panose="00000000000000000000"/>
      <p:regular r:id="rId31"/>
    </p:embeddedFont>
    <p:embeddedFont>
      <p:font typeface="Open Sans Medium" charset="1" panose="00000000000000000000"/>
      <p:regular r:id="rId32"/>
    </p:embeddedFont>
    <p:embeddedFont>
      <p:font typeface="Open Sans Bold" charset="1" panose="00000000000000000000"/>
      <p:regular r:id="rId33"/>
    </p:embeddedFont>
    <p:embeddedFont>
      <p:font typeface="Canva Sans Bold" charset="1" panose="020B0803030501040103"/>
      <p:regular r:id="rId34"/>
    </p:embeddedFont>
    <p:embeddedFont>
      <p:font typeface="Canva Sans" charset="1" panose="020B0503030501040103"/>
      <p:regular r:id="rId35"/>
    </p:embeddedFont>
    <p:embeddedFont>
      <p:font typeface="Open Sans Semi-Bold" charset="1" panose="00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864" r="0" b="-8431"/>
            </a:stretch>
          </a:blipFill>
        </p:spPr>
      </p:sp>
      <p:grpSp>
        <p:nvGrpSpPr>
          <p:cNvPr name="Group 3" id="3"/>
          <p:cNvGrpSpPr/>
          <p:nvPr/>
        </p:nvGrpSpPr>
        <p:grpSpPr>
          <a:xfrm rot="0">
            <a:off x="15882727" y="821440"/>
            <a:ext cx="2405273" cy="732655"/>
            <a:chOff x="0" y="0"/>
            <a:chExt cx="633488" cy="192963"/>
          </a:xfrm>
        </p:grpSpPr>
        <p:sp>
          <p:nvSpPr>
            <p:cNvPr name="Freeform 4" id="4"/>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5" id="5"/>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0" y="821440"/>
            <a:ext cx="4048200" cy="732655"/>
            <a:chOff x="0" y="0"/>
            <a:chExt cx="1066193" cy="192963"/>
          </a:xfrm>
        </p:grpSpPr>
        <p:sp>
          <p:nvSpPr>
            <p:cNvPr name="Freeform 7" id="7"/>
            <p:cNvSpPr/>
            <p:nvPr/>
          </p:nvSpPr>
          <p:spPr>
            <a:xfrm flipH="false" flipV="false" rot="0">
              <a:off x="0" y="0"/>
              <a:ext cx="1066193" cy="192963"/>
            </a:xfrm>
            <a:custGeom>
              <a:avLst/>
              <a:gdLst/>
              <a:ahLst/>
              <a:cxnLst/>
              <a:rect r="r" b="b" t="t" l="l"/>
              <a:pathLst>
                <a:path h="192963" w="1066193">
                  <a:moveTo>
                    <a:pt x="0" y="0"/>
                  </a:moveTo>
                  <a:lnTo>
                    <a:pt x="1066193" y="0"/>
                  </a:lnTo>
                  <a:lnTo>
                    <a:pt x="1066193" y="192963"/>
                  </a:lnTo>
                  <a:lnTo>
                    <a:pt x="0" y="192963"/>
                  </a:lnTo>
                  <a:close/>
                </a:path>
              </a:pathLst>
            </a:custGeom>
            <a:solidFill>
              <a:srgbClr val="C2410A"/>
            </a:solidFill>
          </p:spPr>
        </p:sp>
        <p:sp>
          <p:nvSpPr>
            <p:cNvPr name="TextBox 8" id="8"/>
            <p:cNvSpPr txBox="true"/>
            <p:nvPr/>
          </p:nvSpPr>
          <p:spPr>
            <a:xfrm>
              <a:off x="0" y="-38100"/>
              <a:ext cx="1066193" cy="231063"/>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3587148" y="2076637"/>
            <a:ext cx="12007682" cy="2124075"/>
          </a:xfrm>
          <a:prstGeom prst="rect">
            <a:avLst/>
          </a:prstGeom>
        </p:spPr>
        <p:txBody>
          <a:bodyPr anchor="t" rtlCol="false" tIns="0" lIns="0" bIns="0" rIns="0">
            <a:spAutoFit/>
          </a:bodyPr>
          <a:lstStyle/>
          <a:p>
            <a:pPr algn="ctr">
              <a:lnSpc>
                <a:spcPts val="6157"/>
              </a:lnSpc>
            </a:pPr>
            <a:r>
              <a:rPr lang="en-US" sz="5131" b="true">
                <a:solidFill>
                  <a:srgbClr val="FFFFFF"/>
                </a:solidFill>
                <a:latin typeface="Open Sauce Bold"/>
                <a:ea typeface="Open Sauce Bold"/>
                <a:cs typeface="Open Sauce Bold"/>
                <a:sym typeface="Open Sauce Bold"/>
              </a:rPr>
              <a:t>TileSpGEMM: A Tiled Algorithm for Parallel Sparse</a:t>
            </a:r>
          </a:p>
          <a:p>
            <a:pPr algn="ctr">
              <a:lnSpc>
                <a:spcPts val="4515"/>
              </a:lnSpc>
            </a:pPr>
            <a:r>
              <a:rPr lang="en-US" sz="3763" b="true">
                <a:solidFill>
                  <a:srgbClr val="FFFFFF"/>
                </a:solidFill>
                <a:latin typeface="Open Sauce Bold"/>
                <a:ea typeface="Open Sauce Bold"/>
                <a:cs typeface="Open Sauce Bold"/>
                <a:sym typeface="Open Sauce Bold"/>
              </a:rPr>
              <a:t>General Matrix-Matrix Multiplication on GPUs</a:t>
            </a:r>
          </a:p>
        </p:txBody>
      </p:sp>
      <p:grpSp>
        <p:nvGrpSpPr>
          <p:cNvPr name="Group 10" id="10"/>
          <p:cNvGrpSpPr/>
          <p:nvPr/>
        </p:nvGrpSpPr>
        <p:grpSpPr>
          <a:xfrm rot="0">
            <a:off x="278309" y="5675165"/>
            <a:ext cx="3308839" cy="1233775"/>
            <a:chOff x="0" y="0"/>
            <a:chExt cx="4411785" cy="1645033"/>
          </a:xfrm>
        </p:grpSpPr>
        <p:sp>
          <p:nvSpPr>
            <p:cNvPr name="TextBox 11" id="11"/>
            <p:cNvSpPr txBox="true"/>
            <p:nvPr/>
          </p:nvSpPr>
          <p:spPr>
            <a:xfrm rot="0">
              <a:off x="130614" y="-57150"/>
              <a:ext cx="3632703" cy="578697"/>
            </a:xfrm>
            <a:prstGeom prst="rect">
              <a:avLst/>
            </a:prstGeom>
          </p:spPr>
          <p:txBody>
            <a:bodyPr anchor="t" rtlCol="false" tIns="0" lIns="0" bIns="0" rIns="0">
              <a:spAutoFit/>
            </a:bodyPr>
            <a:lstStyle/>
            <a:p>
              <a:pPr algn="r">
                <a:lnSpc>
                  <a:spcPts val="3639"/>
                </a:lnSpc>
                <a:spcBef>
                  <a:spcPct val="0"/>
                </a:spcBef>
              </a:pPr>
              <a:r>
                <a:rPr lang="en-US" sz="2599">
                  <a:solidFill>
                    <a:srgbClr val="FFFFFF"/>
                  </a:solidFill>
                  <a:latin typeface="Open Sans"/>
                  <a:ea typeface="Open Sans"/>
                  <a:cs typeface="Open Sans"/>
                  <a:sym typeface="Open Sans"/>
                </a:rPr>
                <a:t>Team Members : </a:t>
              </a:r>
            </a:p>
          </p:txBody>
        </p:sp>
        <p:sp>
          <p:nvSpPr>
            <p:cNvPr name="TextBox 12" id="12"/>
            <p:cNvSpPr txBox="true"/>
            <p:nvPr/>
          </p:nvSpPr>
          <p:spPr>
            <a:xfrm rot="0">
              <a:off x="0" y="1066336"/>
              <a:ext cx="4411785" cy="578697"/>
            </a:xfrm>
            <a:prstGeom prst="rect">
              <a:avLst/>
            </a:prstGeom>
          </p:spPr>
          <p:txBody>
            <a:bodyPr anchor="t" rtlCol="false" tIns="0" lIns="0" bIns="0" rIns="0">
              <a:spAutoFit/>
            </a:bodyPr>
            <a:lstStyle/>
            <a:p>
              <a:pPr algn="r">
                <a:lnSpc>
                  <a:spcPts val="3639"/>
                </a:lnSpc>
                <a:spcBef>
                  <a:spcPct val="0"/>
                </a:spcBef>
              </a:pPr>
            </a:p>
          </p:txBody>
        </p:sp>
      </p:grpSp>
      <p:sp>
        <p:nvSpPr>
          <p:cNvPr name="TextBox 13" id="13"/>
          <p:cNvSpPr txBox="true"/>
          <p:nvPr/>
        </p:nvSpPr>
        <p:spPr>
          <a:xfrm rot="0">
            <a:off x="617939" y="908050"/>
            <a:ext cx="2812323" cy="511811"/>
          </a:xfrm>
          <a:prstGeom prst="rect">
            <a:avLst/>
          </a:prstGeom>
        </p:spPr>
        <p:txBody>
          <a:bodyPr anchor="t" rtlCol="false" tIns="0" lIns="0" bIns="0" rIns="0">
            <a:spAutoFit/>
          </a:bodyPr>
          <a:lstStyle/>
          <a:p>
            <a:pPr algn="l">
              <a:lnSpc>
                <a:spcPts val="4339"/>
              </a:lnSpc>
              <a:spcBef>
                <a:spcPct val="0"/>
              </a:spcBef>
            </a:pPr>
            <a:r>
              <a:rPr lang="en-US" b="true" sz="3099">
                <a:solidFill>
                  <a:srgbClr val="FFFFFF"/>
                </a:solidFill>
                <a:latin typeface="Open Sans Medium"/>
                <a:ea typeface="Open Sans Medium"/>
                <a:cs typeface="Open Sans Medium"/>
                <a:sym typeface="Open Sans Medium"/>
              </a:rPr>
              <a:t>Project Title</a:t>
            </a:r>
          </a:p>
        </p:txBody>
      </p:sp>
      <p:sp>
        <p:nvSpPr>
          <p:cNvPr name="TextBox 14" id="14"/>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01</a:t>
            </a:r>
          </a:p>
        </p:txBody>
      </p:sp>
      <p:grpSp>
        <p:nvGrpSpPr>
          <p:cNvPr name="Group 15" id="15"/>
          <p:cNvGrpSpPr/>
          <p:nvPr/>
        </p:nvGrpSpPr>
        <p:grpSpPr>
          <a:xfrm rot="0">
            <a:off x="528247" y="6649112"/>
            <a:ext cx="4122924" cy="2417408"/>
            <a:chOff x="0" y="0"/>
            <a:chExt cx="5497231" cy="3223210"/>
          </a:xfrm>
        </p:grpSpPr>
        <p:grpSp>
          <p:nvGrpSpPr>
            <p:cNvPr name="Group 16" id="16"/>
            <p:cNvGrpSpPr/>
            <p:nvPr/>
          </p:nvGrpSpPr>
          <p:grpSpPr>
            <a:xfrm rot="0">
              <a:off x="945495" y="0"/>
              <a:ext cx="3861697" cy="2609456"/>
              <a:chOff x="0" y="0"/>
              <a:chExt cx="762804" cy="515448"/>
            </a:xfrm>
          </p:grpSpPr>
          <p:sp>
            <p:nvSpPr>
              <p:cNvPr name="Freeform 17" id="17"/>
              <p:cNvSpPr/>
              <p:nvPr/>
            </p:nvSpPr>
            <p:spPr>
              <a:xfrm flipH="false" flipV="false" rot="0">
                <a:off x="0" y="0"/>
                <a:ext cx="762804" cy="515448"/>
              </a:xfrm>
              <a:custGeom>
                <a:avLst/>
                <a:gdLst/>
                <a:ahLst/>
                <a:cxnLst/>
                <a:rect r="r" b="b" t="t" l="l"/>
                <a:pathLst>
                  <a:path h="515448" w="762804">
                    <a:moveTo>
                      <a:pt x="0" y="0"/>
                    </a:moveTo>
                    <a:lnTo>
                      <a:pt x="762804" y="0"/>
                    </a:lnTo>
                    <a:lnTo>
                      <a:pt x="762804" y="515448"/>
                    </a:lnTo>
                    <a:lnTo>
                      <a:pt x="0" y="515448"/>
                    </a:lnTo>
                    <a:close/>
                  </a:path>
                </a:pathLst>
              </a:custGeom>
              <a:solidFill>
                <a:srgbClr val="C2410A"/>
              </a:solidFill>
            </p:spPr>
          </p:sp>
          <p:sp>
            <p:nvSpPr>
              <p:cNvPr name="TextBox 18" id="18"/>
              <p:cNvSpPr txBox="true"/>
              <p:nvPr/>
            </p:nvSpPr>
            <p:spPr>
              <a:xfrm>
                <a:off x="0" y="-38100"/>
                <a:ext cx="762804" cy="553548"/>
              </a:xfrm>
              <a:prstGeom prst="rect">
                <a:avLst/>
              </a:prstGeom>
            </p:spPr>
            <p:txBody>
              <a:bodyPr anchor="ctr" rtlCol="false" tIns="50800" lIns="50800" bIns="50800" rIns="50800"/>
              <a:lstStyle/>
              <a:p>
                <a:pPr algn="ctr">
                  <a:lnSpc>
                    <a:spcPts val="2940"/>
                  </a:lnSpc>
                </a:pPr>
              </a:p>
            </p:txBody>
          </p:sp>
        </p:grpSp>
        <p:grpSp>
          <p:nvGrpSpPr>
            <p:cNvPr name="Group 19" id="19"/>
            <p:cNvGrpSpPr/>
            <p:nvPr/>
          </p:nvGrpSpPr>
          <p:grpSpPr>
            <a:xfrm rot="0">
              <a:off x="2389135" y="313455"/>
              <a:ext cx="718961" cy="660849"/>
              <a:chOff x="0" y="0"/>
              <a:chExt cx="142017" cy="130538"/>
            </a:xfrm>
          </p:grpSpPr>
          <p:sp>
            <p:nvSpPr>
              <p:cNvPr name="Freeform 20" id="20"/>
              <p:cNvSpPr/>
              <p:nvPr/>
            </p:nvSpPr>
            <p:spPr>
              <a:xfrm flipH="false" flipV="false" rot="0">
                <a:off x="0" y="0"/>
                <a:ext cx="142017" cy="130538"/>
              </a:xfrm>
              <a:custGeom>
                <a:avLst/>
                <a:gdLst/>
                <a:ahLst/>
                <a:cxnLst/>
                <a:rect r="r" b="b" t="t" l="l"/>
                <a:pathLst>
                  <a:path h="130538" w="142017">
                    <a:moveTo>
                      <a:pt x="0" y="0"/>
                    </a:moveTo>
                    <a:lnTo>
                      <a:pt x="142017" y="0"/>
                    </a:lnTo>
                    <a:lnTo>
                      <a:pt x="142017" y="130538"/>
                    </a:lnTo>
                    <a:lnTo>
                      <a:pt x="0" y="130538"/>
                    </a:lnTo>
                    <a:close/>
                  </a:path>
                </a:pathLst>
              </a:custGeom>
              <a:solidFill>
                <a:srgbClr val="FFFFFF"/>
              </a:solidFill>
            </p:spPr>
          </p:sp>
          <p:sp>
            <p:nvSpPr>
              <p:cNvPr name="TextBox 21" id="21"/>
              <p:cNvSpPr txBox="true"/>
              <p:nvPr/>
            </p:nvSpPr>
            <p:spPr>
              <a:xfrm>
                <a:off x="0" y="-38100"/>
                <a:ext cx="142017" cy="168638"/>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2487388" y="393689"/>
              <a:ext cx="522456" cy="46228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Open Sans Medium"/>
                  <a:ea typeface="Open Sans Medium"/>
                  <a:cs typeface="Open Sans Medium"/>
                  <a:sym typeface="Open Sans Medium"/>
                </a:rPr>
                <a:t>01</a:t>
              </a:r>
            </a:p>
          </p:txBody>
        </p:sp>
        <p:sp>
          <p:nvSpPr>
            <p:cNvPr name="TextBox 23" id="23"/>
            <p:cNvSpPr txBox="true"/>
            <p:nvPr/>
          </p:nvSpPr>
          <p:spPr>
            <a:xfrm rot="0">
              <a:off x="1012002" y="1109424"/>
              <a:ext cx="3728685" cy="1004993"/>
            </a:xfrm>
            <a:prstGeom prst="rect">
              <a:avLst/>
            </a:prstGeom>
          </p:spPr>
          <p:txBody>
            <a:bodyPr anchor="t" rtlCol="false" tIns="0" lIns="0" bIns="0" rIns="0">
              <a:spAutoFit/>
            </a:bodyPr>
            <a:lstStyle/>
            <a:p>
              <a:pPr algn="ctr">
                <a:lnSpc>
                  <a:spcPts val="3079"/>
                </a:lnSpc>
              </a:pPr>
              <a:r>
                <a:rPr lang="en-US" sz="2199">
                  <a:solidFill>
                    <a:srgbClr val="FFFFFF"/>
                  </a:solidFill>
                  <a:latin typeface="Open Sans"/>
                  <a:ea typeface="Open Sans"/>
                  <a:cs typeface="Open Sans"/>
                  <a:sym typeface="Open Sans"/>
                </a:rPr>
                <a:t>DURGESH NAMA</a:t>
              </a:r>
            </a:p>
            <a:p>
              <a:pPr algn="ctr">
                <a:lnSpc>
                  <a:spcPts val="3079"/>
                </a:lnSpc>
                <a:spcBef>
                  <a:spcPct val="0"/>
                </a:spcBef>
              </a:pPr>
              <a:r>
                <a:rPr lang="en-US" sz="2199">
                  <a:solidFill>
                    <a:srgbClr val="FFFFFF"/>
                  </a:solidFill>
                  <a:latin typeface="Open Sans"/>
                  <a:ea typeface="Open Sans"/>
                  <a:cs typeface="Open Sans"/>
                  <a:sym typeface="Open Sans"/>
                </a:rPr>
                <a:t>12340720</a:t>
              </a:r>
            </a:p>
          </p:txBody>
        </p:sp>
        <p:sp>
          <p:nvSpPr>
            <p:cNvPr name="TextBox 24" id="24"/>
            <p:cNvSpPr txBox="true"/>
            <p:nvPr/>
          </p:nvSpPr>
          <p:spPr>
            <a:xfrm rot="0">
              <a:off x="0" y="2738917"/>
              <a:ext cx="5497231" cy="484294"/>
            </a:xfrm>
            <a:prstGeom prst="rect">
              <a:avLst/>
            </a:prstGeom>
          </p:spPr>
          <p:txBody>
            <a:bodyPr anchor="t" rtlCol="false" tIns="0" lIns="0" bIns="0" rIns="0">
              <a:spAutoFit/>
            </a:bodyPr>
            <a:lstStyle/>
            <a:p>
              <a:pPr algn="ctr">
                <a:lnSpc>
                  <a:spcPts val="3079"/>
                </a:lnSpc>
                <a:spcBef>
                  <a:spcPct val="0"/>
                </a:spcBef>
              </a:pPr>
            </a:p>
          </p:txBody>
        </p:sp>
      </p:grpSp>
      <p:grpSp>
        <p:nvGrpSpPr>
          <p:cNvPr name="Group 25" id="25"/>
          <p:cNvGrpSpPr/>
          <p:nvPr/>
        </p:nvGrpSpPr>
        <p:grpSpPr>
          <a:xfrm rot="0">
            <a:off x="4895683" y="6649112"/>
            <a:ext cx="4122924" cy="2417408"/>
            <a:chOff x="0" y="0"/>
            <a:chExt cx="5497231" cy="3223210"/>
          </a:xfrm>
        </p:grpSpPr>
        <p:grpSp>
          <p:nvGrpSpPr>
            <p:cNvPr name="Group 26" id="26"/>
            <p:cNvGrpSpPr/>
            <p:nvPr/>
          </p:nvGrpSpPr>
          <p:grpSpPr>
            <a:xfrm rot="0">
              <a:off x="945495" y="0"/>
              <a:ext cx="3861697" cy="2609456"/>
              <a:chOff x="0" y="0"/>
              <a:chExt cx="762804" cy="515448"/>
            </a:xfrm>
          </p:grpSpPr>
          <p:sp>
            <p:nvSpPr>
              <p:cNvPr name="Freeform 27" id="27"/>
              <p:cNvSpPr/>
              <p:nvPr/>
            </p:nvSpPr>
            <p:spPr>
              <a:xfrm flipH="false" flipV="false" rot="0">
                <a:off x="0" y="0"/>
                <a:ext cx="762804" cy="515448"/>
              </a:xfrm>
              <a:custGeom>
                <a:avLst/>
                <a:gdLst/>
                <a:ahLst/>
                <a:cxnLst/>
                <a:rect r="r" b="b" t="t" l="l"/>
                <a:pathLst>
                  <a:path h="515448" w="762804">
                    <a:moveTo>
                      <a:pt x="0" y="0"/>
                    </a:moveTo>
                    <a:lnTo>
                      <a:pt x="762804" y="0"/>
                    </a:lnTo>
                    <a:lnTo>
                      <a:pt x="762804" y="515448"/>
                    </a:lnTo>
                    <a:lnTo>
                      <a:pt x="0" y="515448"/>
                    </a:lnTo>
                    <a:close/>
                  </a:path>
                </a:pathLst>
              </a:custGeom>
              <a:solidFill>
                <a:srgbClr val="C2410A"/>
              </a:solidFill>
            </p:spPr>
          </p:sp>
          <p:sp>
            <p:nvSpPr>
              <p:cNvPr name="TextBox 28" id="28"/>
              <p:cNvSpPr txBox="true"/>
              <p:nvPr/>
            </p:nvSpPr>
            <p:spPr>
              <a:xfrm>
                <a:off x="0" y="-38100"/>
                <a:ext cx="762804" cy="553548"/>
              </a:xfrm>
              <a:prstGeom prst="rect">
                <a:avLst/>
              </a:prstGeom>
            </p:spPr>
            <p:txBody>
              <a:bodyPr anchor="ctr" rtlCol="false" tIns="50800" lIns="50800" bIns="50800" rIns="50800"/>
              <a:lstStyle/>
              <a:p>
                <a:pPr algn="ctr">
                  <a:lnSpc>
                    <a:spcPts val="2940"/>
                  </a:lnSpc>
                </a:pPr>
              </a:p>
            </p:txBody>
          </p:sp>
        </p:grpSp>
        <p:grpSp>
          <p:nvGrpSpPr>
            <p:cNvPr name="Group 29" id="29"/>
            <p:cNvGrpSpPr/>
            <p:nvPr/>
          </p:nvGrpSpPr>
          <p:grpSpPr>
            <a:xfrm rot="0">
              <a:off x="2389135" y="313455"/>
              <a:ext cx="718961" cy="660849"/>
              <a:chOff x="0" y="0"/>
              <a:chExt cx="142017" cy="130538"/>
            </a:xfrm>
          </p:grpSpPr>
          <p:sp>
            <p:nvSpPr>
              <p:cNvPr name="Freeform 30" id="30"/>
              <p:cNvSpPr/>
              <p:nvPr/>
            </p:nvSpPr>
            <p:spPr>
              <a:xfrm flipH="false" flipV="false" rot="0">
                <a:off x="0" y="0"/>
                <a:ext cx="142017" cy="130538"/>
              </a:xfrm>
              <a:custGeom>
                <a:avLst/>
                <a:gdLst/>
                <a:ahLst/>
                <a:cxnLst/>
                <a:rect r="r" b="b" t="t" l="l"/>
                <a:pathLst>
                  <a:path h="130538" w="142017">
                    <a:moveTo>
                      <a:pt x="0" y="0"/>
                    </a:moveTo>
                    <a:lnTo>
                      <a:pt x="142017" y="0"/>
                    </a:lnTo>
                    <a:lnTo>
                      <a:pt x="142017" y="130538"/>
                    </a:lnTo>
                    <a:lnTo>
                      <a:pt x="0" y="130538"/>
                    </a:lnTo>
                    <a:close/>
                  </a:path>
                </a:pathLst>
              </a:custGeom>
              <a:solidFill>
                <a:srgbClr val="FFFFFF"/>
              </a:solidFill>
            </p:spPr>
          </p:sp>
          <p:sp>
            <p:nvSpPr>
              <p:cNvPr name="TextBox 31" id="31"/>
              <p:cNvSpPr txBox="true"/>
              <p:nvPr/>
            </p:nvSpPr>
            <p:spPr>
              <a:xfrm>
                <a:off x="0" y="-38100"/>
                <a:ext cx="142017" cy="168638"/>
              </a:xfrm>
              <a:prstGeom prst="rect">
                <a:avLst/>
              </a:prstGeom>
            </p:spPr>
            <p:txBody>
              <a:bodyPr anchor="ctr" rtlCol="false" tIns="50800" lIns="50800" bIns="50800" rIns="50800"/>
              <a:lstStyle/>
              <a:p>
                <a:pPr algn="ctr">
                  <a:lnSpc>
                    <a:spcPts val="2940"/>
                  </a:lnSpc>
                </a:pPr>
              </a:p>
            </p:txBody>
          </p:sp>
        </p:grpSp>
        <p:sp>
          <p:nvSpPr>
            <p:cNvPr name="TextBox 32" id="32"/>
            <p:cNvSpPr txBox="true"/>
            <p:nvPr/>
          </p:nvSpPr>
          <p:spPr>
            <a:xfrm rot="0">
              <a:off x="2487388" y="393689"/>
              <a:ext cx="522456" cy="46228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Open Sans Medium"/>
                  <a:ea typeface="Open Sans Medium"/>
                  <a:cs typeface="Open Sans Medium"/>
                  <a:sym typeface="Open Sans Medium"/>
                </a:rPr>
                <a:t>02</a:t>
              </a:r>
            </a:p>
          </p:txBody>
        </p:sp>
        <p:sp>
          <p:nvSpPr>
            <p:cNvPr name="TextBox 33" id="33"/>
            <p:cNvSpPr txBox="true"/>
            <p:nvPr/>
          </p:nvSpPr>
          <p:spPr>
            <a:xfrm rot="0">
              <a:off x="1012002" y="1109424"/>
              <a:ext cx="3728685" cy="1004993"/>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ns Medium"/>
                  <a:ea typeface="Open Sans Medium"/>
                  <a:cs typeface="Open Sans Medium"/>
                  <a:sym typeface="Open Sans Medium"/>
                </a:rPr>
                <a:t>YOGESH</a:t>
              </a:r>
            </a:p>
            <a:p>
              <a:pPr algn="ctr">
                <a:lnSpc>
                  <a:spcPts val="3079"/>
                </a:lnSpc>
                <a:spcBef>
                  <a:spcPct val="0"/>
                </a:spcBef>
              </a:pPr>
              <a:r>
                <a:rPr lang="en-US" b="true" sz="2199">
                  <a:solidFill>
                    <a:srgbClr val="FFFFFF"/>
                  </a:solidFill>
                  <a:latin typeface="Open Sans Medium"/>
                  <a:ea typeface="Open Sans Medium"/>
                  <a:cs typeface="Open Sans Medium"/>
                  <a:sym typeface="Open Sans Medium"/>
                </a:rPr>
                <a:t>12342420</a:t>
              </a:r>
            </a:p>
          </p:txBody>
        </p:sp>
        <p:sp>
          <p:nvSpPr>
            <p:cNvPr name="TextBox 34" id="34"/>
            <p:cNvSpPr txBox="true"/>
            <p:nvPr/>
          </p:nvSpPr>
          <p:spPr>
            <a:xfrm rot="0">
              <a:off x="0" y="2738917"/>
              <a:ext cx="5497231" cy="484294"/>
            </a:xfrm>
            <a:prstGeom prst="rect">
              <a:avLst/>
            </a:prstGeom>
          </p:spPr>
          <p:txBody>
            <a:bodyPr anchor="t" rtlCol="false" tIns="0" lIns="0" bIns="0" rIns="0">
              <a:spAutoFit/>
            </a:bodyPr>
            <a:lstStyle/>
            <a:p>
              <a:pPr algn="ctr">
                <a:lnSpc>
                  <a:spcPts val="3079"/>
                </a:lnSpc>
                <a:spcBef>
                  <a:spcPct val="0"/>
                </a:spcBef>
              </a:pPr>
            </a:p>
          </p:txBody>
        </p:sp>
      </p:grpSp>
      <p:grpSp>
        <p:nvGrpSpPr>
          <p:cNvPr name="Group 35" id="35"/>
          <p:cNvGrpSpPr/>
          <p:nvPr/>
        </p:nvGrpSpPr>
        <p:grpSpPr>
          <a:xfrm rot="0">
            <a:off x="9266256" y="6649112"/>
            <a:ext cx="4122924" cy="2417408"/>
            <a:chOff x="0" y="0"/>
            <a:chExt cx="5497231" cy="3223210"/>
          </a:xfrm>
        </p:grpSpPr>
        <p:grpSp>
          <p:nvGrpSpPr>
            <p:cNvPr name="Group 36" id="36"/>
            <p:cNvGrpSpPr/>
            <p:nvPr/>
          </p:nvGrpSpPr>
          <p:grpSpPr>
            <a:xfrm rot="0">
              <a:off x="945495" y="0"/>
              <a:ext cx="3861697" cy="2609456"/>
              <a:chOff x="0" y="0"/>
              <a:chExt cx="762804" cy="515448"/>
            </a:xfrm>
          </p:grpSpPr>
          <p:sp>
            <p:nvSpPr>
              <p:cNvPr name="Freeform 37" id="37"/>
              <p:cNvSpPr/>
              <p:nvPr/>
            </p:nvSpPr>
            <p:spPr>
              <a:xfrm flipH="false" flipV="false" rot="0">
                <a:off x="0" y="0"/>
                <a:ext cx="762804" cy="515448"/>
              </a:xfrm>
              <a:custGeom>
                <a:avLst/>
                <a:gdLst/>
                <a:ahLst/>
                <a:cxnLst/>
                <a:rect r="r" b="b" t="t" l="l"/>
                <a:pathLst>
                  <a:path h="515448" w="762804">
                    <a:moveTo>
                      <a:pt x="0" y="0"/>
                    </a:moveTo>
                    <a:lnTo>
                      <a:pt x="762804" y="0"/>
                    </a:lnTo>
                    <a:lnTo>
                      <a:pt x="762804" y="515448"/>
                    </a:lnTo>
                    <a:lnTo>
                      <a:pt x="0" y="515448"/>
                    </a:lnTo>
                    <a:close/>
                  </a:path>
                </a:pathLst>
              </a:custGeom>
              <a:solidFill>
                <a:srgbClr val="C2410A"/>
              </a:solidFill>
            </p:spPr>
          </p:sp>
          <p:sp>
            <p:nvSpPr>
              <p:cNvPr name="TextBox 38" id="38"/>
              <p:cNvSpPr txBox="true"/>
              <p:nvPr/>
            </p:nvSpPr>
            <p:spPr>
              <a:xfrm>
                <a:off x="0" y="-38100"/>
                <a:ext cx="762804" cy="553548"/>
              </a:xfrm>
              <a:prstGeom prst="rect">
                <a:avLst/>
              </a:prstGeom>
            </p:spPr>
            <p:txBody>
              <a:bodyPr anchor="ctr" rtlCol="false" tIns="50800" lIns="50800" bIns="50800" rIns="50800"/>
              <a:lstStyle/>
              <a:p>
                <a:pPr algn="ctr">
                  <a:lnSpc>
                    <a:spcPts val="2940"/>
                  </a:lnSpc>
                </a:pPr>
              </a:p>
            </p:txBody>
          </p:sp>
        </p:grpSp>
        <p:grpSp>
          <p:nvGrpSpPr>
            <p:cNvPr name="Group 39" id="39"/>
            <p:cNvGrpSpPr/>
            <p:nvPr/>
          </p:nvGrpSpPr>
          <p:grpSpPr>
            <a:xfrm rot="0">
              <a:off x="2389135" y="313455"/>
              <a:ext cx="718961" cy="660849"/>
              <a:chOff x="0" y="0"/>
              <a:chExt cx="142017" cy="130538"/>
            </a:xfrm>
          </p:grpSpPr>
          <p:sp>
            <p:nvSpPr>
              <p:cNvPr name="Freeform 40" id="40"/>
              <p:cNvSpPr/>
              <p:nvPr/>
            </p:nvSpPr>
            <p:spPr>
              <a:xfrm flipH="false" flipV="false" rot="0">
                <a:off x="0" y="0"/>
                <a:ext cx="142017" cy="130538"/>
              </a:xfrm>
              <a:custGeom>
                <a:avLst/>
                <a:gdLst/>
                <a:ahLst/>
                <a:cxnLst/>
                <a:rect r="r" b="b" t="t" l="l"/>
                <a:pathLst>
                  <a:path h="130538" w="142017">
                    <a:moveTo>
                      <a:pt x="0" y="0"/>
                    </a:moveTo>
                    <a:lnTo>
                      <a:pt x="142017" y="0"/>
                    </a:lnTo>
                    <a:lnTo>
                      <a:pt x="142017" y="130538"/>
                    </a:lnTo>
                    <a:lnTo>
                      <a:pt x="0" y="130538"/>
                    </a:lnTo>
                    <a:close/>
                  </a:path>
                </a:pathLst>
              </a:custGeom>
              <a:solidFill>
                <a:srgbClr val="FFFFFF"/>
              </a:solidFill>
            </p:spPr>
          </p:sp>
          <p:sp>
            <p:nvSpPr>
              <p:cNvPr name="TextBox 41" id="41"/>
              <p:cNvSpPr txBox="true"/>
              <p:nvPr/>
            </p:nvSpPr>
            <p:spPr>
              <a:xfrm>
                <a:off x="0" y="-38100"/>
                <a:ext cx="142017" cy="168638"/>
              </a:xfrm>
              <a:prstGeom prst="rect">
                <a:avLst/>
              </a:prstGeom>
            </p:spPr>
            <p:txBody>
              <a:bodyPr anchor="ctr" rtlCol="false" tIns="50800" lIns="50800" bIns="50800" rIns="50800"/>
              <a:lstStyle/>
              <a:p>
                <a:pPr algn="ctr">
                  <a:lnSpc>
                    <a:spcPts val="2940"/>
                  </a:lnSpc>
                </a:pPr>
              </a:p>
            </p:txBody>
          </p:sp>
        </p:grpSp>
        <p:sp>
          <p:nvSpPr>
            <p:cNvPr name="TextBox 42" id="42"/>
            <p:cNvSpPr txBox="true"/>
            <p:nvPr/>
          </p:nvSpPr>
          <p:spPr>
            <a:xfrm rot="0">
              <a:off x="2487388" y="393689"/>
              <a:ext cx="522456" cy="46228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Open Sans Medium"/>
                  <a:ea typeface="Open Sans Medium"/>
                  <a:cs typeface="Open Sans Medium"/>
                  <a:sym typeface="Open Sans Medium"/>
                </a:rPr>
                <a:t>03</a:t>
              </a:r>
            </a:p>
          </p:txBody>
        </p:sp>
        <p:sp>
          <p:nvSpPr>
            <p:cNvPr name="TextBox 43" id="43"/>
            <p:cNvSpPr txBox="true"/>
            <p:nvPr/>
          </p:nvSpPr>
          <p:spPr>
            <a:xfrm rot="0">
              <a:off x="1012002" y="1109424"/>
              <a:ext cx="3728685" cy="1004993"/>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ns Medium"/>
                  <a:ea typeface="Open Sans Medium"/>
                  <a:cs typeface="Open Sans Medium"/>
                  <a:sym typeface="Open Sans Medium"/>
                </a:rPr>
                <a:t>SWARNADIP KAR</a:t>
              </a:r>
            </a:p>
            <a:p>
              <a:pPr algn="ctr">
                <a:lnSpc>
                  <a:spcPts val="3079"/>
                </a:lnSpc>
                <a:spcBef>
                  <a:spcPct val="0"/>
                </a:spcBef>
              </a:pPr>
              <a:r>
                <a:rPr lang="en-US" b="true" sz="2199">
                  <a:solidFill>
                    <a:srgbClr val="FFFFFF"/>
                  </a:solidFill>
                  <a:latin typeface="Open Sans Medium"/>
                  <a:ea typeface="Open Sans Medium"/>
                  <a:cs typeface="Open Sans Medium"/>
                  <a:sym typeface="Open Sans Medium"/>
                </a:rPr>
                <a:t>12342210</a:t>
              </a:r>
            </a:p>
          </p:txBody>
        </p:sp>
        <p:sp>
          <p:nvSpPr>
            <p:cNvPr name="TextBox 44" id="44"/>
            <p:cNvSpPr txBox="true"/>
            <p:nvPr/>
          </p:nvSpPr>
          <p:spPr>
            <a:xfrm rot="0">
              <a:off x="0" y="2738917"/>
              <a:ext cx="5497231" cy="484294"/>
            </a:xfrm>
            <a:prstGeom prst="rect">
              <a:avLst/>
            </a:prstGeom>
          </p:spPr>
          <p:txBody>
            <a:bodyPr anchor="t" rtlCol="false" tIns="0" lIns="0" bIns="0" rIns="0">
              <a:spAutoFit/>
            </a:bodyPr>
            <a:lstStyle/>
            <a:p>
              <a:pPr algn="ctr">
                <a:lnSpc>
                  <a:spcPts val="3079"/>
                </a:lnSpc>
                <a:spcBef>
                  <a:spcPct val="0"/>
                </a:spcBef>
              </a:pPr>
            </a:p>
          </p:txBody>
        </p:sp>
      </p:grpSp>
      <p:grpSp>
        <p:nvGrpSpPr>
          <p:cNvPr name="Group 45" id="45"/>
          <p:cNvGrpSpPr/>
          <p:nvPr/>
        </p:nvGrpSpPr>
        <p:grpSpPr>
          <a:xfrm rot="0">
            <a:off x="13636830" y="6649112"/>
            <a:ext cx="4122924" cy="2417408"/>
            <a:chOff x="0" y="0"/>
            <a:chExt cx="5497231" cy="3223210"/>
          </a:xfrm>
        </p:grpSpPr>
        <p:grpSp>
          <p:nvGrpSpPr>
            <p:cNvPr name="Group 46" id="46"/>
            <p:cNvGrpSpPr/>
            <p:nvPr/>
          </p:nvGrpSpPr>
          <p:grpSpPr>
            <a:xfrm rot="0">
              <a:off x="945495" y="0"/>
              <a:ext cx="3861697" cy="2609456"/>
              <a:chOff x="0" y="0"/>
              <a:chExt cx="762804" cy="515448"/>
            </a:xfrm>
          </p:grpSpPr>
          <p:sp>
            <p:nvSpPr>
              <p:cNvPr name="Freeform 47" id="47"/>
              <p:cNvSpPr/>
              <p:nvPr/>
            </p:nvSpPr>
            <p:spPr>
              <a:xfrm flipH="false" flipV="false" rot="0">
                <a:off x="0" y="0"/>
                <a:ext cx="762804" cy="515448"/>
              </a:xfrm>
              <a:custGeom>
                <a:avLst/>
                <a:gdLst/>
                <a:ahLst/>
                <a:cxnLst/>
                <a:rect r="r" b="b" t="t" l="l"/>
                <a:pathLst>
                  <a:path h="515448" w="762804">
                    <a:moveTo>
                      <a:pt x="0" y="0"/>
                    </a:moveTo>
                    <a:lnTo>
                      <a:pt x="762804" y="0"/>
                    </a:lnTo>
                    <a:lnTo>
                      <a:pt x="762804" y="515448"/>
                    </a:lnTo>
                    <a:lnTo>
                      <a:pt x="0" y="515448"/>
                    </a:lnTo>
                    <a:close/>
                  </a:path>
                </a:pathLst>
              </a:custGeom>
              <a:solidFill>
                <a:srgbClr val="C2410A"/>
              </a:solidFill>
            </p:spPr>
          </p:sp>
          <p:sp>
            <p:nvSpPr>
              <p:cNvPr name="TextBox 48" id="48"/>
              <p:cNvSpPr txBox="true"/>
              <p:nvPr/>
            </p:nvSpPr>
            <p:spPr>
              <a:xfrm>
                <a:off x="0" y="-38100"/>
                <a:ext cx="762804" cy="553548"/>
              </a:xfrm>
              <a:prstGeom prst="rect">
                <a:avLst/>
              </a:prstGeom>
            </p:spPr>
            <p:txBody>
              <a:bodyPr anchor="ctr" rtlCol="false" tIns="50800" lIns="50800" bIns="50800" rIns="50800"/>
              <a:lstStyle/>
              <a:p>
                <a:pPr algn="ctr">
                  <a:lnSpc>
                    <a:spcPts val="2940"/>
                  </a:lnSpc>
                </a:pPr>
              </a:p>
            </p:txBody>
          </p:sp>
        </p:grpSp>
        <p:grpSp>
          <p:nvGrpSpPr>
            <p:cNvPr name="Group 49" id="49"/>
            <p:cNvGrpSpPr/>
            <p:nvPr/>
          </p:nvGrpSpPr>
          <p:grpSpPr>
            <a:xfrm rot="0">
              <a:off x="2389135" y="313455"/>
              <a:ext cx="718961" cy="660849"/>
              <a:chOff x="0" y="0"/>
              <a:chExt cx="142017" cy="130538"/>
            </a:xfrm>
          </p:grpSpPr>
          <p:sp>
            <p:nvSpPr>
              <p:cNvPr name="Freeform 50" id="50"/>
              <p:cNvSpPr/>
              <p:nvPr/>
            </p:nvSpPr>
            <p:spPr>
              <a:xfrm flipH="false" flipV="false" rot="0">
                <a:off x="0" y="0"/>
                <a:ext cx="142017" cy="130538"/>
              </a:xfrm>
              <a:custGeom>
                <a:avLst/>
                <a:gdLst/>
                <a:ahLst/>
                <a:cxnLst/>
                <a:rect r="r" b="b" t="t" l="l"/>
                <a:pathLst>
                  <a:path h="130538" w="142017">
                    <a:moveTo>
                      <a:pt x="0" y="0"/>
                    </a:moveTo>
                    <a:lnTo>
                      <a:pt x="142017" y="0"/>
                    </a:lnTo>
                    <a:lnTo>
                      <a:pt x="142017" y="130538"/>
                    </a:lnTo>
                    <a:lnTo>
                      <a:pt x="0" y="130538"/>
                    </a:lnTo>
                    <a:close/>
                  </a:path>
                </a:pathLst>
              </a:custGeom>
              <a:solidFill>
                <a:srgbClr val="FFFFFF"/>
              </a:solidFill>
            </p:spPr>
          </p:sp>
          <p:sp>
            <p:nvSpPr>
              <p:cNvPr name="TextBox 51" id="51"/>
              <p:cNvSpPr txBox="true"/>
              <p:nvPr/>
            </p:nvSpPr>
            <p:spPr>
              <a:xfrm>
                <a:off x="0" y="-38100"/>
                <a:ext cx="142017" cy="168638"/>
              </a:xfrm>
              <a:prstGeom prst="rect">
                <a:avLst/>
              </a:prstGeom>
            </p:spPr>
            <p:txBody>
              <a:bodyPr anchor="ctr" rtlCol="false" tIns="50800" lIns="50800" bIns="50800" rIns="50800"/>
              <a:lstStyle/>
              <a:p>
                <a:pPr algn="ctr">
                  <a:lnSpc>
                    <a:spcPts val="2940"/>
                  </a:lnSpc>
                </a:pPr>
              </a:p>
            </p:txBody>
          </p:sp>
        </p:grpSp>
        <p:sp>
          <p:nvSpPr>
            <p:cNvPr name="TextBox 52" id="52"/>
            <p:cNvSpPr txBox="true"/>
            <p:nvPr/>
          </p:nvSpPr>
          <p:spPr>
            <a:xfrm rot="0">
              <a:off x="2487388" y="393689"/>
              <a:ext cx="522456" cy="46228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Open Sans Medium"/>
                  <a:ea typeface="Open Sans Medium"/>
                  <a:cs typeface="Open Sans Medium"/>
                  <a:sym typeface="Open Sans Medium"/>
                </a:rPr>
                <a:t>04</a:t>
              </a:r>
            </a:p>
          </p:txBody>
        </p:sp>
        <p:sp>
          <p:nvSpPr>
            <p:cNvPr name="TextBox 53" id="53"/>
            <p:cNvSpPr txBox="true"/>
            <p:nvPr/>
          </p:nvSpPr>
          <p:spPr>
            <a:xfrm rot="0">
              <a:off x="1012002" y="1109424"/>
              <a:ext cx="3728685" cy="1004993"/>
            </a:xfrm>
            <a:prstGeom prst="rect">
              <a:avLst/>
            </a:prstGeom>
          </p:spPr>
          <p:txBody>
            <a:bodyPr anchor="t" rtlCol="false" tIns="0" lIns="0" bIns="0" rIns="0">
              <a:spAutoFit/>
            </a:bodyPr>
            <a:lstStyle/>
            <a:p>
              <a:pPr algn="ctr">
                <a:lnSpc>
                  <a:spcPts val="3079"/>
                </a:lnSpc>
              </a:pPr>
              <a:r>
                <a:rPr lang="en-US" sz="2199" b="true">
                  <a:solidFill>
                    <a:srgbClr val="FFFFFF"/>
                  </a:solidFill>
                  <a:latin typeface="Open Sans Medium"/>
                  <a:ea typeface="Open Sans Medium"/>
                  <a:cs typeface="Open Sans Medium"/>
                  <a:sym typeface="Open Sans Medium"/>
                </a:rPr>
                <a:t>ARNAV MISHRA</a:t>
              </a:r>
            </a:p>
            <a:p>
              <a:pPr algn="ctr">
                <a:lnSpc>
                  <a:spcPts val="3079"/>
                </a:lnSpc>
                <a:spcBef>
                  <a:spcPct val="0"/>
                </a:spcBef>
              </a:pPr>
              <a:r>
                <a:rPr lang="en-US" b="true" sz="2199">
                  <a:solidFill>
                    <a:srgbClr val="FFFFFF"/>
                  </a:solidFill>
                  <a:latin typeface="Open Sans Medium"/>
                  <a:ea typeface="Open Sans Medium"/>
                  <a:cs typeface="Open Sans Medium"/>
                  <a:sym typeface="Open Sans Medium"/>
                </a:rPr>
                <a:t>12340330</a:t>
              </a:r>
            </a:p>
          </p:txBody>
        </p:sp>
        <p:sp>
          <p:nvSpPr>
            <p:cNvPr name="TextBox 54" id="54"/>
            <p:cNvSpPr txBox="true"/>
            <p:nvPr/>
          </p:nvSpPr>
          <p:spPr>
            <a:xfrm rot="0">
              <a:off x="0" y="2738917"/>
              <a:ext cx="5497231" cy="484294"/>
            </a:xfrm>
            <a:prstGeom prst="rect">
              <a:avLst/>
            </a:prstGeom>
          </p:spPr>
          <p:txBody>
            <a:bodyPr anchor="t" rtlCol="false" tIns="0" lIns="0" bIns="0" rIns="0">
              <a:spAutoFit/>
            </a:bodyPr>
            <a:lstStyle/>
            <a:p>
              <a:pPr algn="ctr">
                <a:lnSpc>
                  <a:spcPts val="3079"/>
                </a:lnSpc>
                <a:spcBef>
                  <a:spcPct val="0"/>
                </a:spcBef>
              </a:pPr>
            </a:p>
          </p:txBody>
        </p:sp>
      </p:grpSp>
      <p:sp>
        <p:nvSpPr>
          <p:cNvPr name="TextBox 55" id="55"/>
          <p:cNvSpPr txBox="true"/>
          <p:nvPr/>
        </p:nvSpPr>
        <p:spPr>
          <a:xfrm rot="0">
            <a:off x="3268117" y="4747260"/>
            <a:ext cx="11789866" cy="396240"/>
          </a:xfrm>
          <a:prstGeom prst="rect">
            <a:avLst/>
          </a:prstGeom>
        </p:spPr>
        <p:txBody>
          <a:bodyPr anchor="t" rtlCol="false" tIns="0" lIns="0" bIns="0" rIns="0">
            <a:spAutoFit/>
          </a:bodyPr>
          <a:lstStyle/>
          <a:p>
            <a:pPr algn="ctr">
              <a:lnSpc>
                <a:spcPts val="3359"/>
              </a:lnSpc>
              <a:spcBef>
                <a:spcPct val="0"/>
              </a:spcBef>
            </a:pPr>
            <a:r>
              <a:rPr lang="en-US" b="true" sz="2399">
                <a:solidFill>
                  <a:srgbClr val="FFFFFF"/>
                </a:solidFill>
                <a:latin typeface="Open Sans Bold"/>
                <a:ea typeface="Open Sans Bold"/>
                <a:cs typeface="Open Sans Bold"/>
                <a:sym typeface="Open Sans Bold"/>
              </a:rPr>
              <a:t>Authors</a:t>
            </a:r>
            <a:r>
              <a:rPr lang="en-US" b="true" sz="2399">
                <a:solidFill>
                  <a:srgbClr val="FFFFFF"/>
                </a:solidFill>
                <a:latin typeface="Open Sans Medium"/>
                <a:ea typeface="Open Sans Medium"/>
                <a:cs typeface="Open Sans Medium"/>
                <a:sym typeface="Open Sans Medium"/>
              </a:rPr>
              <a:t>: Yuyao Niu , Zhengyang Lu, Haonan Ji, Shuhui Song, Zhou Jin, Weifeng Liu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0" y="693340"/>
            <a:ext cx="4341490" cy="912598"/>
            <a:chOff x="0" y="0"/>
            <a:chExt cx="1143438" cy="240355"/>
          </a:xfrm>
        </p:grpSpPr>
        <p:sp>
          <p:nvSpPr>
            <p:cNvPr name="Freeform 6" id="6"/>
            <p:cNvSpPr/>
            <p:nvPr/>
          </p:nvSpPr>
          <p:spPr>
            <a:xfrm flipH="false" flipV="false" rot="0">
              <a:off x="0" y="0"/>
              <a:ext cx="1143438" cy="240355"/>
            </a:xfrm>
            <a:custGeom>
              <a:avLst/>
              <a:gdLst/>
              <a:ahLst/>
              <a:cxnLst/>
              <a:rect r="r" b="b" t="t" l="l"/>
              <a:pathLst>
                <a:path h="240355" w="1143438">
                  <a:moveTo>
                    <a:pt x="0" y="0"/>
                  </a:moveTo>
                  <a:lnTo>
                    <a:pt x="1143438" y="0"/>
                  </a:lnTo>
                  <a:lnTo>
                    <a:pt x="1143438" y="240355"/>
                  </a:lnTo>
                  <a:lnTo>
                    <a:pt x="0" y="240355"/>
                  </a:lnTo>
                  <a:close/>
                </a:path>
              </a:pathLst>
            </a:custGeom>
            <a:solidFill>
              <a:srgbClr val="C2410A"/>
            </a:solidFill>
          </p:spPr>
        </p:sp>
        <p:sp>
          <p:nvSpPr>
            <p:cNvPr name="TextBox 7" id="7"/>
            <p:cNvSpPr txBox="true"/>
            <p:nvPr/>
          </p:nvSpPr>
          <p:spPr>
            <a:xfrm>
              <a:off x="0" y="-38100"/>
              <a:ext cx="1143438" cy="278455"/>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0" y="6154210"/>
            <a:ext cx="1688330" cy="673534"/>
            <a:chOff x="0" y="0"/>
            <a:chExt cx="444663" cy="177392"/>
          </a:xfrm>
        </p:grpSpPr>
        <p:sp>
          <p:nvSpPr>
            <p:cNvPr name="Freeform 9" id="9"/>
            <p:cNvSpPr/>
            <p:nvPr/>
          </p:nvSpPr>
          <p:spPr>
            <a:xfrm flipH="false" flipV="false" rot="0">
              <a:off x="0" y="0"/>
              <a:ext cx="444663" cy="177392"/>
            </a:xfrm>
            <a:custGeom>
              <a:avLst/>
              <a:gdLst/>
              <a:ahLst/>
              <a:cxnLst/>
              <a:rect r="r" b="b" t="t" l="l"/>
              <a:pathLst>
                <a:path h="177392" w="444663">
                  <a:moveTo>
                    <a:pt x="0" y="0"/>
                  </a:moveTo>
                  <a:lnTo>
                    <a:pt x="444663" y="0"/>
                  </a:lnTo>
                  <a:lnTo>
                    <a:pt x="444663" y="177392"/>
                  </a:lnTo>
                  <a:lnTo>
                    <a:pt x="0" y="177392"/>
                  </a:lnTo>
                  <a:close/>
                </a:path>
              </a:pathLst>
            </a:custGeom>
            <a:solidFill>
              <a:srgbClr val="C2410A"/>
            </a:solidFill>
          </p:spPr>
        </p:sp>
        <p:sp>
          <p:nvSpPr>
            <p:cNvPr name="TextBox 10" id="10"/>
            <p:cNvSpPr txBox="true"/>
            <p:nvPr/>
          </p:nvSpPr>
          <p:spPr>
            <a:xfrm>
              <a:off x="0" y="-38100"/>
              <a:ext cx="444663" cy="215492"/>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209164" y="787446"/>
            <a:ext cx="3923162" cy="561318"/>
          </a:xfrm>
          <a:prstGeom prst="rect">
            <a:avLst/>
          </a:prstGeom>
        </p:spPr>
        <p:txBody>
          <a:bodyPr anchor="t" rtlCol="false" tIns="0" lIns="0" bIns="0" rIns="0">
            <a:spAutoFit/>
          </a:bodyPr>
          <a:lstStyle/>
          <a:p>
            <a:pPr algn="l">
              <a:lnSpc>
                <a:spcPts val="4571"/>
              </a:lnSpc>
              <a:spcBef>
                <a:spcPct val="0"/>
              </a:spcBef>
            </a:pPr>
            <a:r>
              <a:rPr lang="en-US" b="true" sz="3265">
                <a:solidFill>
                  <a:srgbClr val="FFFFFF"/>
                </a:solidFill>
                <a:latin typeface="Open Sans Medium"/>
                <a:ea typeface="Open Sans Medium"/>
                <a:cs typeface="Open Sans Medium"/>
                <a:sym typeface="Open Sans Medium"/>
              </a:rPr>
              <a:t>Problem Statement</a:t>
            </a:r>
          </a:p>
        </p:txBody>
      </p:sp>
      <p:sp>
        <p:nvSpPr>
          <p:cNvPr name="TextBox 12" id="12"/>
          <p:cNvSpPr txBox="true"/>
          <p:nvPr/>
        </p:nvSpPr>
        <p:spPr>
          <a:xfrm rot="0">
            <a:off x="15882727" y="990600"/>
            <a:ext cx="1376573" cy="727710"/>
          </a:xfrm>
          <a:prstGeom prst="rect">
            <a:avLst/>
          </a:prstGeom>
        </p:spPr>
        <p:txBody>
          <a:bodyPr anchor="t" rtlCol="false" tIns="0" lIns="0" bIns="0" rIns="0">
            <a:spAutoFit/>
          </a:bodyPr>
          <a:lstStyle/>
          <a:p>
            <a:pPr algn="r">
              <a:lnSpc>
                <a:spcPts val="2940"/>
              </a:lnSpc>
            </a:pPr>
            <a:r>
              <a:rPr lang="en-US" sz="2100" b="true">
                <a:solidFill>
                  <a:srgbClr val="FFFFFF"/>
                </a:solidFill>
                <a:latin typeface="Open Sans Medium"/>
                <a:ea typeface="Open Sans Medium"/>
                <a:cs typeface="Open Sans Medium"/>
                <a:sym typeface="Open Sans Medium"/>
              </a:rPr>
              <a:t>Page 02</a:t>
            </a:r>
          </a:p>
          <a:p>
            <a:pPr algn="r">
              <a:lnSpc>
                <a:spcPts val="2940"/>
              </a:lnSpc>
              <a:spcBef>
                <a:spcPct val="0"/>
              </a:spcBef>
            </a:pPr>
          </a:p>
        </p:txBody>
      </p:sp>
      <p:sp>
        <p:nvSpPr>
          <p:cNvPr name="TextBox 13" id="13"/>
          <p:cNvSpPr txBox="true"/>
          <p:nvPr/>
        </p:nvSpPr>
        <p:spPr>
          <a:xfrm rot="0">
            <a:off x="1028700" y="2458426"/>
            <a:ext cx="4196251" cy="727710"/>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ns Medium"/>
                <a:ea typeface="Open Sans Medium"/>
                <a:cs typeface="Open Sans Medium"/>
                <a:sym typeface="Open Sans Medium"/>
              </a:rPr>
              <a:t>Compute:</a:t>
            </a:r>
          </a:p>
          <a:p>
            <a:pPr algn="l" marL="453390" indent="-226695" lvl="1">
              <a:lnSpc>
                <a:spcPts val="2940"/>
              </a:lnSpc>
              <a:buFont typeface="Arial"/>
              <a:buChar char="•"/>
            </a:pPr>
            <a:r>
              <a:rPr lang="en-US" b="true" sz="2100">
                <a:solidFill>
                  <a:srgbClr val="000000"/>
                </a:solidFill>
                <a:latin typeface="Open Sans Medium"/>
                <a:ea typeface="Open Sans Medium"/>
                <a:cs typeface="Open Sans Medium"/>
                <a:sym typeface="Open Sans Medium"/>
              </a:rPr>
              <a:t>  C = A × B (Sparse Matrices)</a:t>
            </a:r>
          </a:p>
        </p:txBody>
      </p:sp>
      <p:sp>
        <p:nvSpPr>
          <p:cNvPr name="TextBox 14" id="14"/>
          <p:cNvSpPr txBox="true"/>
          <p:nvPr/>
        </p:nvSpPr>
        <p:spPr>
          <a:xfrm rot="0">
            <a:off x="1028700" y="3567136"/>
            <a:ext cx="4076524" cy="1439311"/>
          </a:xfrm>
          <a:prstGeom prst="rect">
            <a:avLst/>
          </a:prstGeom>
        </p:spPr>
        <p:txBody>
          <a:bodyPr anchor="t" rtlCol="false" tIns="0" lIns="0" bIns="0" rIns="0">
            <a:spAutoFit/>
          </a:bodyPr>
          <a:lstStyle/>
          <a:p>
            <a:pPr algn="l">
              <a:lnSpc>
                <a:spcPts val="2856"/>
              </a:lnSpc>
            </a:pPr>
            <a:r>
              <a:rPr lang="en-US" sz="2040" b="true">
                <a:solidFill>
                  <a:srgbClr val="000000"/>
                </a:solidFill>
                <a:latin typeface="Open Sans Medium"/>
                <a:ea typeface="Open Sans Medium"/>
                <a:cs typeface="Open Sans Medium"/>
                <a:sym typeface="Open Sans Medium"/>
              </a:rPr>
              <a:t>Matrices contain:</a:t>
            </a:r>
          </a:p>
          <a:p>
            <a:pPr algn="l" marL="440454" indent="-220227" lvl="1">
              <a:lnSpc>
                <a:spcPts val="2856"/>
              </a:lnSpc>
              <a:buFont typeface="Arial"/>
              <a:buChar char="•"/>
            </a:pPr>
            <a:r>
              <a:rPr lang="en-US" b="true" sz="2040">
                <a:solidFill>
                  <a:srgbClr val="000000"/>
                </a:solidFill>
                <a:latin typeface="Open Sans Medium"/>
                <a:ea typeface="Open Sans Medium"/>
                <a:cs typeface="Open Sans Medium"/>
                <a:sym typeface="Open Sans Medium"/>
              </a:rPr>
              <a:t>Mostly zero values</a:t>
            </a:r>
          </a:p>
          <a:p>
            <a:pPr algn="l" marL="440454" indent="-220227" lvl="1">
              <a:lnSpc>
                <a:spcPts val="2856"/>
              </a:lnSpc>
              <a:buFont typeface="Arial"/>
              <a:buChar char="•"/>
            </a:pPr>
            <a:r>
              <a:rPr lang="en-US" b="true" sz="2040">
                <a:solidFill>
                  <a:srgbClr val="000000"/>
                </a:solidFill>
                <a:latin typeface="Open Sans Medium"/>
                <a:ea typeface="Open Sans Medium"/>
                <a:cs typeface="Open Sans Medium"/>
                <a:sym typeface="Open Sans Medium"/>
              </a:rPr>
              <a:t>Irregular structure</a:t>
            </a:r>
          </a:p>
          <a:p>
            <a:pPr algn="l">
              <a:lnSpc>
                <a:spcPts val="2856"/>
              </a:lnSpc>
              <a:spcBef>
                <a:spcPct val="0"/>
              </a:spcBef>
            </a:pPr>
          </a:p>
        </p:txBody>
      </p:sp>
      <p:sp>
        <p:nvSpPr>
          <p:cNvPr name="TextBox 15" id="15"/>
          <p:cNvSpPr txBox="true"/>
          <p:nvPr/>
        </p:nvSpPr>
        <p:spPr>
          <a:xfrm rot="0">
            <a:off x="519910" y="6222664"/>
            <a:ext cx="1017580" cy="479477"/>
          </a:xfrm>
          <a:prstGeom prst="rect">
            <a:avLst/>
          </a:prstGeom>
        </p:spPr>
        <p:txBody>
          <a:bodyPr anchor="t" rtlCol="false" tIns="0" lIns="0" bIns="0" rIns="0">
            <a:spAutoFit/>
          </a:bodyPr>
          <a:lstStyle/>
          <a:p>
            <a:pPr algn="l">
              <a:lnSpc>
                <a:spcPts val="3902"/>
              </a:lnSpc>
              <a:spcBef>
                <a:spcPct val="0"/>
              </a:spcBef>
            </a:pPr>
            <a:r>
              <a:rPr lang="en-US" b="true" sz="2787">
                <a:solidFill>
                  <a:srgbClr val="FFFFFF"/>
                </a:solidFill>
                <a:latin typeface="Open Sans Medium"/>
                <a:ea typeface="Open Sans Medium"/>
                <a:cs typeface="Open Sans Medium"/>
                <a:sym typeface="Open Sans Medium"/>
              </a:rPr>
              <a:t>Goal</a:t>
            </a:r>
          </a:p>
        </p:txBody>
      </p:sp>
      <p:sp>
        <p:nvSpPr>
          <p:cNvPr name="TextBox 16" id="16"/>
          <p:cNvSpPr txBox="true"/>
          <p:nvPr/>
        </p:nvSpPr>
        <p:spPr>
          <a:xfrm rot="0">
            <a:off x="1688330" y="7208744"/>
            <a:ext cx="8534697" cy="1078435"/>
          </a:xfrm>
          <a:prstGeom prst="rect">
            <a:avLst/>
          </a:prstGeom>
        </p:spPr>
        <p:txBody>
          <a:bodyPr anchor="t" rtlCol="false" tIns="0" lIns="0" bIns="0" rIns="0">
            <a:spAutoFit/>
          </a:bodyPr>
          <a:lstStyle/>
          <a:p>
            <a:pPr algn="l" marL="440454" indent="-220227" lvl="1">
              <a:lnSpc>
                <a:spcPts val="2856"/>
              </a:lnSpc>
              <a:buFont typeface="Arial"/>
              <a:buChar char="•"/>
            </a:pPr>
            <a:r>
              <a:rPr lang="en-US" b="true" sz="2040">
                <a:solidFill>
                  <a:srgbClr val="000000"/>
                </a:solidFill>
                <a:latin typeface="Open Sans Medium"/>
                <a:ea typeface="Open Sans Medium"/>
                <a:cs typeface="Open Sans Medium"/>
                <a:sym typeface="Open Sans Medium"/>
              </a:rPr>
              <a:t>Design a fast, scalable parallel SpGEMM algorithm</a:t>
            </a:r>
          </a:p>
          <a:p>
            <a:pPr algn="l" marL="440454" indent="-220227" lvl="1">
              <a:lnSpc>
                <a:spcPts val="2856"/>
              </a:lnSpc>
              <a:buFont typeface="Arial"/>
              <a:buChar char="•"/>
            </a:pPr>
            <a:r>
              <a:rPr lang="en-US" b="true" sz="2040">
                <a:solidFill>
                  <a:srgbClr val="000000"/>
                </a:solidFill>
                <a:latin typeface="Open Sans Medium"/>
                <a:ea typeface="Open Sans Medium"/>
                <a:cs typeface="Open Sans Medium"/>
                <a:sym typeface="Open Sans Medium"/>
              </a:rPr>
              <a:t>Improve load balance, memory efficiency, and performance</a:t>
            </a:r>
          </a:p>
          <a:p>
            <a:pPr algn="l">
              <a:lnSpc>
                <a:spcPts val="2856"/>
              </a:lnSpc>
              <a:spcBef>
                <a:spcPct val="0"/>
              </a:spcBef>
            </a:pPr>
          </a:p>
        </p:txBody>
      </p:sp>
      <p:sp>
        <p:nvSpPr>
          <p:cNvPr name="Freeform 17" id="17"/>
          <p:cNvSpPr/>
          <p:nvPr/>
        </p:nvSpPr>
        <p:spPr>
          <a:xfrm flipH="false" flipV="false" rot="0">
            <a:off x="7448042" y="1995302"/>
            <a:ext cx="6982091" cy="3445782"/>
          </a:xfrm>
          <a:custGeom>
            <a:avLst/>
            <a:gdLst/>
            <a:ahLst/>
            <a:cxnLst/>
            <a:rect r="r" b="b" t="t" l="l"/>
            <a:pathLst>
              <a:path h="3445782" w="6982091">
                <a:moveTo>
                  <a:pt x="0" y="0"/>
                </a:moveTo>
                <a:lnTo>
                  <a:pt x="6982091" y="0"/>
                </a:lnTo>
                <a:lnTo>
                  <a:pt x="6982091" y="3445782"/>
                </a:lnTo>
                <a:lnTo>
                  <a:pt x="0" y="3445782"/>
                </a:lnTo>
                <a:lnTo>
                  <a:pt x="0" y="0"/>
                </a:lnTo>
                <a:close/>
              </a:path>
            </a:pathLst>
          </a:custGeom>
          <a:blipFill>
            <a:blip r:embed="rId2"/>
            <a:stretch>
              <a:fillRect l="0" t="-3981" r="0" b="-9996"/>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0808852" y="2553955"/>
            <a:ext cx="740055" cy="740055"/>
            <a:chOff x="0" y="0"/>
            <a:chExt cx="194912" cy="194912"/>
          </a:xfrm>
        </p:grpSpPr>
        <p:sp>
          <p:nvSpPr>
            <p:cNvPr name="Freeform 6" id="6"/>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7" id="7"/>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0808852" y="3804237"/>
            <a:ext cx="740055" cy="740055"/>
            <a:chOff x="0" y="0"/>
            <a:chExt cx="194912" cy="194912"/>
          </a:xfrm>
        </p:grpSpPr>
        <p:sp>
          <p:nvSpPr>
            <p:cNvPr name="Freeform 9" id="9"/>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0" id="10"/>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0808852" y="5068230"/>
            <a:ext cx="740055" cy="740055"/>
            <a:chOff x="0" y="0"/>
            <a:chExt cx="194912" cy="194912"/>
          </a:xfrm>
        </p:grpSpPr>
        <p:sp>
          <p:nvSpPr>
            <p:cNvPr name="Freeform 12" id="12"/>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3" id="13"/>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0808852" y="6321225"/>
            <a:ext cx="740055" cy="740055"/>
            <a:chOff x="0" y="0"/>
            <a:chExt cx="194912" cy="194912"/>
          </a:xfrm>
        </p:grpSpPr>
        <p:sp>
          <p:nvSpPr>
            <p:cNvPr name="Freeform 15" id="15"/>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6" id="16"/>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17" id="17"/>
          <p:cNvGrpSpPr/>
          <p:nvPr/>
        </p:nvGrpSpPr>
        <p:grpSpPr>
          <a:xfrm rot="0">
            <a:off x="1028700" y="9000892"/>
            <a:ext cx="1252808" cy="257408"/>
            <a:chOff x="0" y="0"/>
            <a:chExt cx="1670411" cy="343210"/>
          </a:xfrm>
        </p:grpSpPr>
        <p:grpSp>
          <p:nvGrpSpPr>
            <p:cNvPr name="Group 18" id="18"/>
            <p:cNvGrpSpPr/>
            <p:nvPr/>
          </p:nvGrpSpPr>
          <p:grpSpPr>
            <a:xfrm rot="0">
              <a:off x="0" y="0"/>
              <a:ext cx="343210" cy="343210"/>
              <a:chOff x="0" y="0"/>
              <a:chExt cx="67795" cy="67795"/>
            </a:xfrm>
          </p:grpSpPr>
          <p:sp>
            <p:nvSpPr>
              <p:cNvPr name="Freeform 19" id="19"/>
              <p:cNvSpPr/>
              <p:nvPr/>
            </p:nvSpPr>
            <p:spPr>
              <a:xfrm flipH="false" flipV="false" rot="0">
                <a:off x="0" y="0"/>
                <a:ext cx="67795" cy="67795"/>
              </a:xfrm>
              <a:custGeom>
                <a:avLst/>
                <a:gdLst/>
                <a:ahLst/>
                <a:cxnLst/>
                <a:rect r="r" b="b" t="t" l="l"/>
                <a:pathLst>
                  <a:path h="67795" w="67795">
                    <a:moveTo>
                      <a:pt x="0" y="0"/>
                    </a:moveTo>
                    <a:lnTo>
                      <a:pt x="67795" y="0"/>
                    </a:lnTo>
                    <a:lnTo>
                      <a:pt x="67795" y="67795"/>
                    </a:lnTo>
                    <a:lnTo>
                      <a:pt x="0" y="67795"/>
                    </a:lnTo>
                    <a:close/>
                  </a:path>
                </a:pathLst>
              </a:custGeom>
              <a:solidFill>
                <a:srgbClr val="C2410A"/>
              </a:solidFill>
            </p:spPr>
          </p:sp>
          <p:sp>
            <p:nvSpPr>
              <p:cNvPr name="TextBox 20" id="20"/>
              <p:cNvSpPr txBox="true"/>
              <p:nvPr/>
            </p:nvSpPr>
            <p:spPr>
              <a:xfrm>
                <a:off x="0" y="-38100"/>
                <a:ext cx="67795" cy="105895"/>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663600" y="0"/>
              <a:ext cx="343210" cy="343210"/>
              <a:chOff x="0" y="0"/>
              <a:chExt cx="67795" cy="67795"/>
            </a:xfrm>
          </p:grpSpPr>
          <p:sp>
            <p:nvSpPr>
              <p:cNvPr name="Freeform 22" id="22"/>
              <p:cNvSpPr/>
              <p:nvPr/>
            </p:nvSpPr>
            <p:spPr>
              <a:xfrm flipH="false" flipV="false" rot="0">
                <a:off x="0" y="0"/>
                <a:ext cx="67795" cy="67795"/>
              </a:xfrm>
              <a:custGeom>
                <a:avLst/>
                <a:gdLst/>
                <a:ahLst/>
                <a:cxnLst/>
                <a:rect r="r" b="b" t="t" l="l"/>
                <a:pathLst>
                  <a:path h="67795" w="67795">
                    <a:moveTo>
                      <a:pt x="0" y="0"/>
                    </a:moveTo>
                    <a:lnTo>
                      <a:pt x="67795" y="0"/>
                    </a:lnTo>
                    <a:lnTo>
                      <a:pt x="67795" y="67795"/>
                    </a:lnTo>
                    <a:lnTo>
                      <a:pt x="0" y="67795"/>
                    </a:lnTo>
                    <a:close/>
                  </a:path>
                </a:pathLst>
              </a:custGeom>
              <a:solidFill>
                <a:srgbClr val="C2410A"/>
              </a:solidFill>
            </p:spPr>
          </p:sp>
          <p:sp>
            <p:nvSpPr>
              <p:cNvPr name="TextBox 23" id="23"/>
              <p:cNvSpPr txBox="true"/>
              <p:nvPr/>
            </p:nvSpPr>
            <p:spPr>
              <a:xfrm>
                <a:off x="0" y="-38100"/>
                <a:ext cx="67795" cy="105895"/>
              </a:xfrm>
              <a:prstGeom prst="rect">
                <a:avLst/>
              </a:prstGeom>
            </p:spPr>
            <p:txBody>
              <a:bodyPr anchor="ctr" rtlCol="false" tIns="50800" lIns="50800" bIns="50800" rIns="50800"/>
              <a:lstStyle/>
              <a:p>
                <a:pPr algn="ctr">
                  <a:lnSpc>
                    <a:spcPts val="2940"/>
                  </a:lnSpc>
                </a:pPr>
              </a:p>
            </p:txBody>
          </p:sp>
        </p:grpSp>
        <p:grpSp>
          <p:nvGrpSpPr>
            <p:cNvPr name="Group 24" id="24"/>
            <p:cNvGrpSpPr/>
            <p:nvPr/>
          </p:nvGrpSpPr>
          <p:grpSpPr>
            <a:xfrm rot="0">
              <a:off x="1327200" y="0"/>
              <a:ext cx="343210" cy="343210"/>
              <a:chOff x="0" y="0"/>
              <a:chExt cx="67795" cy="67795"/>
            </a:xfrm>
          </p:grpSpPr>
          <p:sp>
            <p:nvSpPr>
              <p:cNvPr name="Freeform 25" id="25"/>
              <p:cNvSpPr/>
              <p:nvPr/>
            </p:nvSpPr>
            <p:spPr>
              <a:xfrm flipH="false" flipV="false" rot="0">
                <a:off x="0" y="0"/>
                <a:ext cx="67795" cy="67795"/>
              </a:xfrm>
              <a:custGeom>
                <a:avLst/>
                <a:gdLst/>
                <a:ahLst/>
                <a:cxnLst/>
                <a:rect r="r" b="b" t="t" l="l"/>
                <a:pathLst>
                  <a:path h="67795" w="67795">
                    <a:moveTo>
                      <a:pt x="0" y="0"/>
                    </a:moveTo>
                    <a:lnTo>
                      <a:pt x="67795" y="0"/>
                    </a:lnTo>
                    <a:lnTo>
                      <a:pt x="67795" y="67795"/>
                    </a:lnTo>
                    <a:lnTo>
                      <a:pt x="0" y="67795"/>
                    </a:lnTo>
                    <a:close/>
                  </a:path>
                </a:pathLst>
              </a:custGeom>
              <a:solidFill>
                <a:srgbClr val="C2410A"/>
              </a:solidFill>
            </p:spPr>
          </p:sp>
          <p:sp>
            <p:nvSpPr>
              <p:cNvPr name="TextBox 26" id="26"/>
              <p:cNvSpPr txBox="true"/>
              <p:nvPr/>
            </p:nvSpPr>
            <p:spPr>
              <a:xfrm>
                <a:off x="0" y="-38100"/>
                <a:ext cx="67795" cy="105895"/>
              </a:xfrm>
              <a:prstGeom prst="rect">
                <a:avLst/>
              </a:prstGeom>
            </p:spPr>
            <p:txBody>
              <a:bodyPr anchor="ctr" rtlCol="false" tIns="50800" lIns="50800" bIns="50800" rIns="50800"/>
              <a:lstStyle/>
              <a:p>
                <a:pPr algn="ctr">
                  <a:lnSpc>
                    <a:spcPts val="2940"/>
                  </a:lnSpc>
                </a:pPr>
              </a:p>
            </p:txBody>
          </p:sp>
        </p:grpSp>
      </p:grpSp>
      <p:grpSp>
        <p:nvGrpSpPr>
          <p:cNvPr name="Group 27" id="27"/>
          <p:cNvGrpSpPr/>
          <p:nvPr/>
        </p:nvGrpSpPr>
        <p:grpSpPr>
          <a:xfrm rot="0">
            <a:off x="10808852" y="7680406"/>
            <a:ext cx="740055" cy="740055"/>
            <a:chOff x="0" y="0"/>
            <a:chExt cx="194912" cy="194912"/>
          </a:xfrm>
        </p:grpSpPr>
        <p:sp>
          <p:nvSpPr>
            <p:cNvPr name="Freeform 28" id="28"/>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29" id="29"/>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30" id="30"/>
          <p:cNvGrpSpPr/>
          <p:nvPr/>
        </p:nvGrpSpPr>
        <p:grpSpPr>
          <a:xfrm rot="0">
            <a:off x="10808852" y="8925622"/>
            <a:ext cx="740055" cy="740055"/>
            <a:chOff x="0" y="0"/>
            <a:chExt cx="194912" cy="194912"/>
          </a:xfrm>
        </p:grpSpPr>
        <p:sp>
          <p:nvSpPr>
            <p:cNvPr name="Freeform 31" id="31"/>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32" id="32"/>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sp>
        <p:nvSpPr>
          <p:cNvPr name="Freeform 33" id="33"/>
          <p:cNvSpPr/>
          <p:nvPr/>
        </p:nvSpPr>
        <p:spPr>
          <a:xfrm flipH="false" flipV="false" rot="0">
            <a:off x="458591" y="2929624"/>
            <a:ext cx="8832787" cy="6933743"/>
          </a:xfrm>
          <a:custGeom>
            <a:avLst/>
            <a:gdLst/>
            <a:ahLst/>
            <a:cxnLst/>
            <a:rect r="r" b="b" t="t" l="l"/>
            <a:pathLst>
              <a:path h="6933743" w="8832787">
                <a:moveTo>
                  <a:pt x="0" y="0"/>
                </a:moveTo>
                <a:lnTo>
                  <a:pt x="8832788" y="0"/>
                </a:lnTo>
                <a:lnTo>
                  <a:pt x="8832788" y="6933743"/>
                </a:lnTo>
                <a:lnTo>
                  <a:pt x="0" y="6933743"/>
                </a:lnTo>
                <a:lnTo>
                  <a:pt x="0" y="0"/>
                </a:lnTo>
                <a:close/>
              </a:path>
            </a:pathLst>
          </a:custGeom>
          <a:blipFill>
            <a:blip r:embed="rId2"/>
            <a:stretch>
              <a:fillRect l="0" t="-4797" r="-111" b="-588"/>
            </a:stretch>
          </a:blipFill>
        </p:spPr>
      </p:sp>
      <p:sp>
        <p:nvSpPr>
          <p:cNvPr name="TextBox 34" id="34"/>
          <p:cNvSpPr txBox="true"/>
          <p:nvPr/>
        </p:nvSpPr>
        <p:spPr>
          <a:xfrm rot="0">
            <a:off x="1028700" y="990600"/>
            <a:ext cx="2812323" cy="356235"/>
          </a:xfrm>
          <a:prstGeom prst="rect">
            <a:avLst/>
          </a:prstGeom>
        </p:spPr>
        <p:txBody>
          <a:bodyPr anchor="t" rtlCol="false" tIns="0" lIns="0" bIns="0" rIns="0">
            <a:spAutoFit/>
          </a:bodyPr>
          <a:lstStyle/>
          <a:p>
            <a:pPr algn="l">
              <a:lnSpc>
                <a:spcPts val="2940"/>
              </a:lnSpc>
              <a:spcBef>
                <a:spcPct val="0"/>
              </a:spcBef>
            </a:pPr>
            <a:r>
              <a:rPr lang="en-US" b="true" sz="2100">
                <a:solidFill>
                  <a:srgbClr val="FFFFFF"/>
                </a:solidFill>
                <a:latin typeface="Open Sans Medium"/>
                <a:ea typeface="Open Sans Medium"/>
                <a:cs typeface="Open Sans Medium"/>
                <a:sym typeface="Open Sans Medium"/>
              </a:rPr>
              <a:t>Giggling Platypus Co.</a:t>
            </a:r>
          </a:p>
        </p:txBody>
      </p:sp>
      <p:sp>
        <p:nvSpPr>
          <p:cNvPr name="TextBox 35" id="35"/>
          <p:cNvSpPr txBox="true"/>
          <p:nvPr/>
        </p:nvSpPr>
        <p:spPr>
          <a:xfrm rot="0">
            <a:off x="15892252"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03</a:t>
            </a:r>
          </a:p>
        </p:txBody>
      </p:sp>
      <p:sp>
        <p:nvSpPr>
          <p:cNvPr name="TextBox 36" id="36"/>
          <p:cNvSpPr txBox="true"/>
          <p:nvPr/>
        </p:nvSpPr>
        <p:spPr>
          <a:xfrm rot="0">
            <a:off x="10882834" y="2726816"/>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01</a:t>
            </a:r>
          </a:p>
        </p:txBody>
      </p:sp>
      <p:sp>
        <p:nvSpPr>
          <p:cNvPr name="TextBox 37" id="37"/>
          <p:cNvSpPr txBox="true"/>
          <p:nvPr/>
        </p:nvSpPr>
        <p:spPr>
          <a:xfrm rot="0">
            <a:off x="11833841" y="2515855"/>
            <a:ext cx="5425459" cy="763270"/>
          </a:xfrm>
          <a:prstGeom prst="rect">
            <a:avLst/>
          </a:prstGeom>
        </p:spPr>
        <p:txBody>
          <a:bodyPr anchor="t" rtlCol="false" tIns="0" lIns="0" bIns="0" rIns="0">
            <a:spAutoFit/>
          </a:bodyPr>
          <a:lstStyle/>
          <a:p>
            <a:pPr algn="just">
              <a:lnSpc>
                <a:spcPts val="3079"/>
              </a:lnSpc>
            </a:pPr>
            <a:r>
              <a:rPr lang="en-US" sz="2199">
                <a:solidFill>
                  <a:srgbClr val="000000"/>
                </a:solidFill>
                <a:latin typeface="Open Sans"/>
                <a:ea typeface="Open Sans"/>
                <a:cs typeface="Open Sans"/>
                <a:sym typeface="Open Sans"/>
              </a:rPr>
              <a:t>For each row i in matrix A</a:t>
            </a:r>
          </a:p>
          <a:p>
            <a:pPr algn="just">
              <a:lnSpc>
                <a:spcPts val="3079"/>
              </a:lnSpc>
              <a:spcBef>
                <a:spcPct val="0"/>
              </a:spcBef>
            </a:pPr>
            <a:r>
              <a:rPr lang="en-US" sz="2199">
                <a:solidFill>
                  <a:srgbClr val="000000"/>
                </a:solidFill>
                <a:latin typeface="Open Sans"/>
                <a:ea typeface="Open Sans"/>
                <a:cs typeface="Open Sans"/>
                <a:sym typeface="Open Sans"/>
              </a:rPr>
              <a:t>            → assign a GPU thread</a:t>
            </a:r>
          </a:p>
        </p:txBody>
      </p:sp>
      <p:sp>
        <p:nvSpPr>
          <p:cNvPr name="TextBox 38" id="38"/>
          <p:cNvSpPr txBox="true"/>
          <p:nvPr/>
        </p:nvSpPr>
        <p:spPr>
          <a:xfrm rot="0">
            <a:off x="10882834" y="3977097"/>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02</a:t>
            </a:r>
          </a:p>
        </p:txBody>
      </p:sp>
      <p:sp>
        <p:nvSpPr>
          <p:cNvPr name="TextBox 39" id="39"/>
          <p:cNvSpPr txBox="true"/>
          <p:nvPr/>
        </p:nvSpPr>
        <p:spPr>
          <a:xfrm rot="0">
            <a:off x="11833841" y="3766137"/>
            <a:ext cx="5425459" cy="763270"/>
          </a:xfrm>
          <a:prstGeom prst="rect">
            <a:avLst/>
          </a:prstGeom>
        </p:spPr>
        <p:txBody>
          <a:bodyPr anchor="t" rtlCol="false" tIns="0" lIns="0" bIns="0" rIns="0">
            <a:spAutoFit/>
          </a:bodyPr>
          <a:lstStyle/>
          <a:p>
            <a:pPr algn="just">
              <a:lnSpc>
                <a:spcPts val="3079"/>
              </a:lnSpc>
            </a:pPr>
            <a:r>
              <a:rPr lang="en-US" sz="2199">
                <a:solidFill>
                  <a:srgbClr val="000000"/>
                </a:solidFill>
                <a:latin typeface="Open Sans"/>
                <a:ea typeface="Open Sans"/>
                <a:cs typeface="Open Sans"/>
                <a:sym typeface="Open Sans"/>
              </a:rPr>
              <a:t>For each non-zero element A[i][j]</a:t>
            </a:r>
          </a:p>
          <a:p>
            <a:pPr algn="just">
              <a:lnSpc>
                <a:spcPts val="3079"/>
              </a:lnSpc>
              <a:spcBef>
                <a:spcPct val="0"/>
              </a:spcBef>
            </a:pPr>
            <a:r>
              <a:rPr lang="en-US" sz="2199">
                <a:solidFill>
                  <a:srgbClr val="000000"/>
                </a:solidFill>
                <a:latin typeface="Open Sans"/>
                <a:ea typeface="Open Sans"/>
                <a:cs typeface="Open Sans"/>
                <a:sym typeface="Open Sans"/>
              </a:rPr>
              <a:t>            → find row j in matrix B</a:t>
            </a:r>
          </a:p>
        </p:txBody>
      </p:sp>
      <p:sp>
        <p:nvSpPr>
          <p:cNvPr name="TextBox 40" id="40"/>
          <p:cNvSpPr txBox="true"/>
          <p:nvPr/>
        </p:nvSpPr>
        <p:spPr>
          <a:xfrm rot="0">
            <a:off x="10882834" y="5241090"/>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03</a:t>
            </a:r>
          </a:p>
        </p:txBody>
      </p:sp>
      <p:sp>
        <p:nvSpPr>
          <p:cNvPr name="TextBox 41" id="41"/>
          <p:cNvSpPr txBox="true"/>
          <p:nvPr/>
        </p:nvSpPr>
        <p:spPr>
          <a:xfrm rot="0">
            <a:off x="11833841" y="5028683"/>
            <a:ext cx="5425459" cy="763270"/>
          </a:xfrm>
          <a:prstGeom prst="rect">
            <a:avLst/>
          </a:prstGeom>
        </p:spPr>
        <p:txBody>
          <a:bodyPr anchor="t" rtlCol="false" tIns="0" lIns="0" bIns="0" rIns="0">
            <a:spAutoFit/>
          </a:bodyPr>
          <a:lstStyle/>
          <a:p>
            <a:pPr algn="just">
              <a:lnSpc>
                <a:spcPts val="3079"/>
              </a:lnSpc>
            </a:pPr>
            <a:r>
              <a:rPr lang="en-US" sz="2199">
                <a:solidFill>
                  <a:srgbClr val="000000"/>
                </a:solidFill>
                <a:latin typeface="Open Sans"/>
                <a:ea typeface="Open Sans"/>
                <a:cs typeface="Open Sans"/>
                <a:sym typeface="Open Sans"/>
              </a:rPr>
              <a:t>Multiply with all non-zeros in B[j][k]</a:t>
            </a:r>
          </a:p>
          <a:p>
            <a:pPr algn="just">
              <a:lnSpc>
                <a:spcPts val="3079"/>
              </a:lnSpc>
              <a:spcBef>
                <a:spcPct val="0"/>
              </a:spcBef>
            </a:pPr>
            <a:r>
              <a:rPr lang="en-US" sz="2199">
                <a:solidFill>
                  <a:srgbClr val="000000"/>
                </a:solidFill>
                <a:latin typeface="Open Sans"/>
                <a:ea typeface="Open Sans"/>
                <a:cs typeface="Open Sans"/>
                <a:sym typeface="Open Sans"/>
              </a:rPr>
              <a:t>            →  </a:t>
            </a:r>
            <a:r>
              <a:rPr lang="en-US" sz="2199">
                <a:solidFill>
                  <a:srgbClr val="000000"/>
                </a:solidFill>
                <a:latin typeface="Open Sans"/>
                <a:ea typeface="Open Sans"/>
                <a:cs typeface="Open Sans"/>
                <a:sym typeface="Open Sans"/>
              </a:rPr>
              <a:t>value =  A[i][j]  ×  B[j][k]</a:t>
            </a:r>
          </a:p>
        </p:txBody>
      </p:sp>
      <p:sp>
        <p:nvSpPr>
          <p:cNvPr name="TextBox 42" id="42"/>
          <p:cNvSpPr txBox="true"/>
          <p:nvPr/>
        </p:nvSpPr>
        <p:spPr>
          <a:xfrm rot="0">
            <a:off x="10808852" y="6494086"/>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04</a:t>
            </a:r>
          </a:p>
        </p:txBody>
      </p:sp>
      <p:sp>
        <p:nvSpPr>
          <p:cNvPr name="TextBox 43" id="43"/>
          <p:cNvSpPr txBox="true"/>
          <p:nvPr/>
        </p:nvSpPr>
        <p:spPr>
          <a:xfrm rot="0">
            <a:off x="11833841" y="6283125"/>
            <a:ext cx="5425459" cy="1544320"/>
          </a:xfrm>
          <a:prstGeom prst="rect">
            <a:avLst/>
          </a:prstGeom>
        </p:spPr>
        <p:txBody>
          <a:bodyPr anchor="t" rtlCol="false" tIns="0" lIns="0" bIns="0" rIns="0">
            <a:spAutoFit/>
          </a:bodyPr>
          <a:lstStyle/>
          <a:p>
            <a:pPr algn="just">
              <a:lnSpc>
                <a:spcPts val="3079"/>
              </a:lnSpc>
            </a:pPr>
            <a:r>
              <a:rPr lang="en-US" sz="2199">
                <a:solidFill>
                  <a:srgbClr val="000000"/>
                </a:solidFill>
                <a:latin typeface="Open Sans"/>
                <a:ea typeface="Open Sans"/>
                <a:cs typeface="Open Sans"/>
                <a:sym typeface="Open Sans"/>
              </a:rPr>
              <a:t>Insert or update in result matrix C[i][k]</a:t>
            </a:r>
          </a:p>
          <a:p>
            <a:pPr algn="just">
              <a:lnSpc>
                <a:spcPts val="3079"/>
              </a:lnSpc>
            </a:pPr>
            <a:r>
              <a:rPr lang="en-US" sz="2199">
                <a:solidFill>
                  <a:srgbClr val="000000"/>
                </a:solidFill>
                <a:latin typeface="Open Sans"/>
                <a:ea typeface="Open Sans"/>
                <a:cs typeface="Open Sans"/>
                <a:sym typeface="Open Sans"/>
              </a:rPr>
              <a:t>               →   </a:t>
            </a:r>
            <a:r>
              <a:rPr lang="en-US" sz="2199">
                <a:solidFill>
                  <a:srgbClr val="000000"/>
                </a:solidFill>
                <a:latin typeface="Open Sans"/>
                <a:ea typeface="Open Sans"/>
                <a:cs typeface="Open Sans"/>
                <a:sym typeface="Open Sans"/>
              </a:rPr>
              <a:t>If not present → insert</a:t>
            </a:r>
          </a:p>
          <a:p>
            <a:pPr algn="just">
              <a:lnSpc>
                <a:spcPts val="3079"/>
              </a:lnSpc>
            </a:pPr>
            <a:r>
              <a:rPr lang="en-US" sz="2199">
                <a:solidFill>
                  <a:srgbClr val="000000"/>
                </a:solidFill>
                <a:latin typeface="Open Sans"/>
                <a:ea typeface="Open Sans"/>
                <a:cs typeface="Open Sans"/>
                <a:sym typeface="Open Sans"/>
              </a:rPr>
              <a:t>               →   </a:t>
            </a:r>
            <a:r>
              <a:rPr lang="en-US" sz="2199">
                <a:solidFill>
                  <a:srgbClr val="000000"/>
                </a:solidFill>
                <a:latin typeface="Open Sans"/>
                <a:ea typeface="Open Sans"/>
                <a:cs typeface="Open Sans"/>
                <a:sym typeface="Open Sans"/>
              </a:rPr>
              <a:t>If present → add value</a:t>
            </a:r>
          </a:p>
          <a:p>
            <a:pPr algn="just">
              <a:lnSpc>
                <a:spcPts val="3079"/>
              </a:lnSpc>
              <a:spcBef>
                <a:spcPct val="0"/>
              </a:spcBef>
            </a:pPr>
          </a:p>
        </p:txBody>
      </p:sp>
      <p:sp>
        <p:nvSpPr>
          <p:cNvPr name="TextBox 44" id="44"/>
          <p:cNvSpPr txBox="true"/>
          <p:nvPr/>
        </p:nvSpPr>
        <p:spPr>
          <a:xfrm rot="0">
            <a:off x="570822" y="1570358"/>
            <a:ext cx="6540402" cy="807085"/>
          </a:xfrm>
          <a:prstGeom prst="rect">
            <a:avLst/>
          </a:prstGeom>
        </p:spPr>
        <p:txBody>
          <a:bodyPr anchor="t" rtlCol="false" tIns="0" lIns="0" bIns="0" rIns="0">
            <a:spAutoFit/>
          </a:bodyPr>
          <a:lstStyle/>
          <a:p>
            <a:pPr algn="just">
              <a:lnSpc>
                <a:spcPts val="3219"/>
              </a:lnSpc>
            </a:pPr>
            <a:r>
              <a:rPr lang="en-US" sz="2299">
                <a:solidFill>
                  <a:srgbClr val="000000"/>
                </a:solidFill>
                <a:latin typeface="Open Sans"/>
                <a:ea typeface="Open Sans"/>
                <a:cs typeface="Open Sans"/>
                <a:sym typeface="Open Sans"/>
              </a:rPr>
              <a:t>• Compute one row of C at a time</a:t>
            </a:r>
          </a:p>
          <a:p>
            <a:pPr algn="just">
              <a:lnSpc>
                <a:spcPts val="3359"/>
              </a:lnSpc>
              <a:spcBef>
                <a:spcPct val="0"/>
              </a:spcBef>
            </a:pPr>
            <a:r>
              <a:rPr lang="en-US" sz="2399">
                <a:solidFill>
                  <a:srgbClr val="000000"/>
                </a:solidFill>
                <a:latin typeface="Open Sans"/>
                <a:ea typeface="Open Sans"/>
                <a:cs typeface="Open Sans"/>
                <a:sym typeface="Open Sans"/>
              </a:rPr>
              <a:t>• Each row is independent → parallel on GPU</a:t>
            </a:r>
          </a:p>
        </p:txBody>
      </p:sp>
      <p:sp>
        <p:nvSpPr>
          <p:cNvPr name="TextBox 45" id="45"/>
          <p:cNvSpPr txBox="true"/>
          <p:nvPr/>
        </p:nvSpPr>
        <p:spPr>
          <a:xfrm rot="0">
            <a:off x="9597912" y="1560833"/>
            <a:ext cx="1284922" cy="521334"/>
          </a:xfrm>
          <a:prstGeom prst="rect">
            <a:avLst/>
          </a:prstGeom>
        </p:spPr>
        <p:txBody>
          <a:bodyPr anchor="t" rtlCol="false" tIns="0" lIns="0" bIns="0" rIns="0">
            <a:spAutoFit/>
          </a:bodyPr>
          <a:lstStyle/>
          <a:p>
            <a:pPr algn="ctr">
              <a:lnSpc>
                <a:spcPts val="4340"/>
              </a:lnSpc>
            </a:pPr>
            <a:r>
              <a:rPr lang="en-US" sz="3100" b="true">
                <a:solidFill>
                  <a:srgbClr val="000000"/>
                </a:solidFill>
                <a:latin typeface="Canva Sans Bold"/>
                <a:ea typeface="Canva Sans Bold"/>
                <a:cs typeface="Canva Sans Bold"/>
                <a:sym typeface="Canva Sans Bold"/>
              </a:rPr>
              <a:t>Steps :</a:t>
            </a:r>
          </a:p>
        </p:txBody>
      </p:sp>
      <p:sp>
        <p:nvSpPr>
          <p:cNvPr name="TextBox 46" id="46"/>
          <p:cNvSpPr txBox="true"/>
          <p:nvPr/>
        </p:nvSpPr>
        <p:spPr>
          <a:xfrm rot="0">
            <a:off x="10882834" y="7851856"/>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05</a:t>
            </a:r>
          </a:p>
        </p:txBody>
      </p:sp>
      <p:sp>
        <p:nvSpPr>
          <p:cNvPr name="TextBox 47" id="47"/>
          <p:cNvSpPr txBox="true"/>
          <p:nvPr/>
        </p:nvSpPr>
        <p:spPr>
          <a:xfrm rot="0">
            <a:off x="10882834" y="9098482"/>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06</a:t>
            </a:r>
          </a:p>
        </p:txBody>
      </p:sp>
      <p:sp>
        <p:nvSpPr>
          <p:cNvPr name="TextBox 48" id="48"/>
          <p:cNvSpPr txBox="true"/>
          <p:nvPr/>
        </p:nvSpPr>
        <p:spPr>
          <a:xfrm rot="0">
            <a:off x="11833841" y="7835346"/>
            <a:ext cx="4234183" cy="372744"/>
          </a:xfrm>
          <a:prstGeom prst="rect">
            <a:avLst/>
          </a:prstGeom>
        </p:spPr>
        <p:txBody>
          <a:bodyPr anchor="t" rtlCol="false" tIns="0" lIns="0" bIns="0" rIns="0">
            <a:spAutoFit/>
          </a:bodyPr>
          <a:lstStyle/>
          <a:p>
            <a:pPr algn="ctr">
              <a:lnSpc>
                <a:spcPts val="3080"/>
              </a:lnSpc>
            </a:pPr>
            <a:r>
              <a:rPr lang="en-US" sz="2200">
                <a:solidFill>
                  <a:srgbClr val="000000"/>
                </a:solidFill>
                <a:latin typeface="Canva Sans"/>
                <a:ea typeface="Canva Sans"/>
                <a:cs typeface="Canva Sans"/>
                <a:sym typeface="Canva Sans"/>
              </a:rPr>
              <a:t>Repeat for all non-zeros in row i</a:t>
            </a:r>
          </a:p>
        </p:txBody>
      </p:sp>
      <p:sp>
        <p:nvSpPr>
          <p:cNvPr name="TextBox 49" id="49"/>
          <p:cNvSpPr txBox="true"/>
          <p:nvPr/>
        </p:nvSpPr>
        <p:spPr>
          <a:xfrm rot="0">
            <a:off x="11833841" y="9068120"/>
            <a:ext cx="2947353" cy="356234"/>
          </a:xfrm>
          <a:prstGeom prst="rect">
            <a:avLst/>
          </a:prstGeom>
        </p:spPr>
        <p:txBody>
          <a:bodyPr anchor="t" rtlCol="false" tIns="0" lIns="0" bIns="0" rIns="0">
            <a:spAutoFit/>
          </a:bodyPr>
          <a:lstStyle/>
          <a:p>
            <a:pPr algn="ctr">
              <a:lnSpc>
                <a:spcPts val="2940"/>
              </a:lnSpc>
            </a:pPr>
            <a:r>
              <a:rPr lang="en-US" sz="2100">
                <a:solidFill>
                  <a:srgbClr val="000000"/>
                </a:solidFill>
                <a:latin typeface="Canva Sans"/>
                <a:ea typeface="Canva Sans"/>
                <a:cs typeface="Canva Sans"/>
                <a:sym typeface="Canva Sans"/>
              </a:rPr>
              <a:t>Final row C[i] is formed</a:t>
            </a:r>
          </a:p>
        </p:txBody>
      </p:sp>
      <p:grpSp>
        <p:nvGrpSpPr>
          <p:cNvPr name="Group 50" id="50"/>
          <p:cNvGrpSpPr/>
          <p:nvPr/>
        </p:nvGrpSpPr>
        <p:grpSpPr>
          <a:xfrm rot="0">
            <a:off x="-812225" y="398660"/>
            <a:ext cx="7532623" cy="948175"/>
            <a:chOff x="0" y="0"/>
            <a:chExt cx="1983901" cy="249725"/>
          </a:xfrm>
        </p:grpSpPr>
        <p:sp>
          <p:nvSpPr>
            <p:cNvPr name="Freeform 51" id="51"/>
            <p:cNvSpPr/>
            <p:nvPr/>
          </p:nvSpPr>
          <p:spPr>
            <a:xfrm flipH="false" flipV="false" rot="0">
              <a:off x="0" y="0"/>
              <a:ext cx="1983901" cy="249725"/>
            </a:xfrm>
            <a:custGeom>
              <a:avLst/>
              <a:gdLst/>
              <a:ahLst/>
              <a:cxnLst/>
              <a:rect r="r" b="b" t="t" l="l"/>
              <a:pathLst>
                <a:path h="249725" w="1983901">
                  <a:moveTo>
                    <a:pt x="0" y="0"/>
                  </a:moveTo>
                  <a:lnTo>
                    <a:pt x="1983901" y="0"/>
                  </a:lnTo>
                  <a:lnTo>
                    <a:pt x="1983901" y="249725"/>
                  </a:lnTo>
                  <a:lnTo>
                    <a:pt x="0" y="249725"/>
                  </a:lnTo>
                  <a:close/>
                </a:path>
              </a:pathLst>
            </a:custGeom>
            <a:solidFill>
              <a:srgbClr val="C2410A"/>
            </a:solidFill>
          </p:spPr>
        </p:sp>
        <p:sp>
          <p:nvSpPr>
            <p:cNvPr name="TextBox 52" id="52"/>
            <p:cNvSpPr txBox="true"/>
            <p:nvPr/>
          </p:nvSpPr>
          <p:spPr>
            <a:xfrm>
              <a:off x="0" y="-76200"/>
              <a:ext cx="1983901" cy="325925"/>
            </a:xfrm>
            <a:prstGeom prst="rect">
              <a:avLst/>
            </a:prstGeom>
          </p:spPr>
          <p:txBody>
            <a:bodyPr anchor="ctr" rtlCol="false" tIns="50800" lIns="50800" bIns="50800" rIns="50800"/>
            <a:lstStyle/>
            <a:p>
              <a:pPr algn="ctr">
                <a:lnSpc>
                  <a:spcPts val="5879"/>
                </a:lnSpc>
              </a:pPr>
              <a:r>
                <a:rPr lang="en-US" b="true" sz="4199">
                  <a:solidFill>
                    <a:srgbClr val="000000"/>
                  </a:solidFill>
                  <a:latin typeface="Open Sans Medium"/>
                  <a:ea typeface="Open Sans Medium"/>
                  <a:cs typeface="Open Sans Medium"/>
                  <a:sym typeface="Open Sans Medium"/>
                </a:rPr>
                <a:t>Row-Row SpGEMM</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990600"/>
            <a:ext cx="2812323" cy="356235"/>
          </a:xfrm>
          <a:prstGeom prst="rect">
            <a:avLst/>
          </a:prstGeom>
        </p:spPr>
        <p:txBody>
          <a:bodyPr anchor="t" rtlCol="false" tIns="0" lIns="0" bIns="0" rIns="0">
            <a:spAutoFit/>
          </a:bodyPr>
          <a:lstStyle/>
          <a:p>
            <a:pPr algn="l">
              <a:lnSpc>
                <a:spcPts val="2940"/>
              </a:lnSpc>
              <a:spcBef>
                <a:spcPct val="0"/>
              </a:spcBef>
            </a:pPr>
            <a:r>
              <a:rPr lang="en-US" b="true" sz="2100">
                <a:solidFill>
                  <a:srgbClr val="FFFFFF"/>
                </a:solidFill>
                <a:latin typeface="Open Sans Medium"/>
                <a:ea typeface="Open Sans Medium"/>
                <a:cs typeface="Open Sans Medium"/>
                <a:sym typeface="Open Sans Medium"/>
              </a:rPr>
              <a:t>Giggling Platypus Co.</a:t>
            </a:r>
          </a:p>
        </p:txBody>
      </p:sp>
      <p:sp>
        <p:nvSpPr>
          <p:cNvPr name="TextBox 6" id="6"/>
          <p:cNvSpPr txBox="true"/>
          <p:nvPr/>
        </p:nvSpPr>
        <p:spPr>
          <a:xfrm rot="0">
            <a:off x="15892252"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04</a:t>
            </a:r>
          </a:p>
        </p:txBody>
      </p:sp>
      <p:grpSp>
        <p:nvGrpSpPr>
          <p:cNvPr name="Group 7" id="7"/>
          <p:cNvGrpSpPr/>
          <p:nvPr/>
        </p:nvGrpSpPr>
        <p:grpSpPr>
          <a:xfrm rot="0">
            <a:off x="-812225" y="398660"/>
            <a:ext cx="7532623" cy="948175"/>
            <a:chOff x="0" y="0"/>
            <a:chExt cx="1983901" cy="249725"/>
          </a:xfrm>
        </p:grpSpPr>
        <p:sp>
          <p:nvSpPr>
            <p:cNvPr name="Freeform 8" id="8"/>
            <p:cNvSpPr/>
            <p:nvPr/>
          </p:nvSpPr>
          <p:spPr>
            <a:xfrm flipH="false" flipV="false" rot="0">
              <a:off x="0" y="0"/>
              <a:ext cx="1983901" cy="249725"/>
            </a:xfrm>
            <a:custGeom>
              <a:avLst/>
              <a:gdLst/>
              <a:ahLst/>
              <a:cxnLst/>
              <a:rect r="r" b="b" t="t" l="l"/>
              <a:pathLst>
                <a:path h="249725" w="1983901">
                  <a:moveTo>
                    <a:pt x="0" y="0"/>
                  </a:moveTo>
                  <a:lnTo>
                    <a:pt x="1983901" y="0"/>
                  </a:lnTo>
                  <a:lnTo>
                    <a:pt x="1983901" y="249725"/>
                  </a:lnTo>
                  <a:lnTo>
                    <a:pt x="0" y="249725"/>
                  </a:lnTo>
                  <a:close/>
                </a:path>
              </a:pathLst>
            </a:custGeom>
            <a:solidFill>
              <a:srgbClr val="C2410A"/>
            </a:solidFill>
          </p:spPr>
        </p:sp>
        <p:sp>
          <p:nvSpPr>
            <p:cNvPr name="TextBox 9" id="9"/>
            <p:cNvSpPr txBox="true"/>
            <p:nvPr/>
          </p:nvSpPr>
          <p:spPr>
            <a:xfrm>
              <a:off x="0" y="-76200"/>
              <a:ext cx="1983901" cy="325925"/>
            </a:xfrm>
            <a:prstGeom prst="rect">
              <a:avLst/>
            </a:prstGeom>
          </p:spPr>
          <p:txBody>
            <a:bodyPr anchor="ctr" rtlCol="false" tIns="50800" lIns="50800" bIns="50800" rIns="50800"/>
            <a:lstStyle/>
            <a:p>
              <a:pPr algn="ctr">
                <a:lnSpc>
                  <a:spcPts val="5879"/>
                </a:lnSpc>
              </a:pPr>
              <a:r>
                <a:rPr lang="en-US" b="true" sz="4199">
                  <a:solidFill>
                    <a:srgbClr val="000000"/>
                  </a:solidFill>
                  <a:latin typeface="Open Sans Medium"/>
                  <a:ea typeface="Open Sans Medium"/>
                  <a:cs typeface="Open Sans Medium"/>
                  <a:sym typeface="Open Sans Medium"/>
                </a:rPr>
                <a:t>Row-Row SpGEMM</a:t>
              </a:r>
            </a:p>
          </p:txBody>
        </p:sp>
      </p:grpSp>
      <p:sp>
        <p:nvSpPr>
          <p:cNvPr name="TextBox 10" id="10"/>
          <p:cNvSpPr txBox="true"/>
          <p:nvPr/>
        </p:nvSpPr>
        <p:spPr>
          <a:xfrm rot="0">
            <a:off x="3841023" y="3641402"/>
            <a:ext cx="11275368" cy="5246370"/>
          </a:xfrm>
          <a:prstGeom prst="rect">
            <a:avLst/>
          </a:prstGeom>
        </p:spPr>
        <p:txBody>
          <a:bodyPr anchor="t" rtlCol="false" tIns="0" lIns="0" bIns="0" rIns="0">
            <a:spAutoFit/>
          </a:bodyPr>
          <a:lstStyle/>
          <a:p>
            <a:pPr algn="ctr">
              <a:lnSpc>
                <a:spcPts val="3919"/>
              </a:lnSpc>
            </a:pPr>
            <a:r>
              <a:rPr lang="en-US" sz="2799" b="true">
                <a:solidFill>
                  <a:srgbClr val="000000"/>
                </a:solidFill>
                <a:latin typeface="Open Sans Semi-Bold"/>
                <a:ea typeface="Open Sans Semi-Bold"/>
                <a:cs typeface="Open Sans Semi-Bold"/>
                <a:sym typeface="Open Sans Semi-Bold"/>
              </a:rPr>
              <a:t>Phase 1 — Upper-Bound nnz per Row (upper_nnz_kernel)</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1 thread per row of C</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For each non-zero A[i,k], adds the count of non-zeros in col k in B</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Result: upper_nnz[i] = worst-case non-zeros in row i of C</a:t>
            </a:r>
          </a:p>
          <a:p>
            <a:pPr algn="ctr">
              <a:lnSpc>
                <a:spcPts val="3639"/>
              </a:lnSpc>
            </a:pPr>
          </a:p>
          <a:p>
            <a:pPr algn="ctr">
              <a:lnSpc>
                <a:spcPts val="3919"/>
              </a:lnSpc>
            </a:pPr>
            <a:r>
              <a:rPr lang="en-US" sz="2799" b="true">
                <a:solidFill>
                  <a:srgbClr val="000000"/>
                </a:solidFill>
                <a:latin typeface="Open Sans Bold"/>
                <a:ea typeface="Open Sans Bold"/>
                <a:cs typeface="Open Sans Bold"/>
                <a:sym typeface="Open Sans Bold"/>
              </a:rPr>
              <a:t>Phase 2 — Hash-Based SpGEMM (spgemm_hash_kernel)</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1 warp per row of C</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Each lane handles every 32nd non-zero of A[i,*] (stride = warp size)</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For each A[i,k], iterates all non-zeros of B[k,*]</a:t>
            </a:r>
          </a:p>
          <a:p>
            <a:pPr algn="l" marL="518158" indent="-259079" lvl="1">
              <a:lnSpc>
                <a:spcPts val="3359"/>
              </a:lnSpc>
              <a:buFont typeface="Arial"/>
              <a:buChar char="•"/>
            </a:pPr>
            <a:r>
              <a:rPr lang="en-US" sz="2399">
                <a:solidFill>
                  <a:srgbClr val="000000"/>
                </a:solidFill>
                <a:latin typeface="Open Sans"/>
                <a:ea typeface="Open Sans"/>
                <a:cs typeface="Open Sans"/>
                <a:sym typeface="Open Sans"/>
              </a:rPr>
              <a:t>Inserts (column_j, A[i,k] × B[k,j]) into a </a:t>
            </a:r>
            <a:r>
              <a:rPr lang="en-US" b="true" sz="2399">
                <a:solidFill>
                  <a:srgbClr val="000000"/>
                </a:solidFill>
                <a:latin typeface="Open Sans Semi-Bold"/>
                <a:ea typeface="Open Sans Semi-Bold"/>
                <a:cs typeface="Open Sans Semi-Bold"/>
                <a:sym typeface="Open Sans Semi-Bold"/>
              </a:rPr>
              <a:t>per-row open-addressing hash table</a:t>
            </a:r>
            <a:r>
              <a:rPr lang="en-US" sz="2399">
                <a:solidFill>
                  <a:srgbClr val="000000"/>
                </a:solidFill>
                <a:latin typeface="Open Sans"/>
                <a:ea typeface="Open Sans"/>
                <a:cs typeface="Open Sans"/>
                <a:sym typeface="Open Sans"/>
              </a:rPr>
              <a:t>:</a:t>
            </a:r>
          </a:p>
          <a:p>
            <a:pPr algn="l" marL="1036317" indent="-345439" lvl="2">
              <a:lnSpc>
                <a:spcPts val="3359"/>
              </a:lnSpc>
              <a:buFont typeface="Arial"/>
              <a:buChar char="⚬"/>
            </a:pPr>
            <a:r>
              <a:rPr lang="en-US" sz="2399">
                <a:solidFill>
                  <a:srgbClr val="000000"/>
                </a:solidFill>
                <a:latin typeface="Open Sans"/>
                <a:ea typeface="Open Sans"/>
                <a:cs typeface="Open Sans"/>
                <a:sym typeface="Open Sans"/>
              </a:rPr>
              <a:t>atomicAdd accumulates the product into that slot</a:t>
            </a:r>
          </a:p>
          <a:p>
            <a:pPr algn="ctr">
              <a:lnSpc>
                <a:spcPts val="36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990600"/>
            <a:ext cx="2812323" cy="356235"/>
          </a:xfrm>
          <a:prstGeom prst="rect">
            <a:avLst/>
          </a:prstGeom>
        </p:spPr>
        <p:txBody>
          <a:bodyPr anchor="t" rtlCol="false" tIns="0" lIns="0" bIns="0" rIns="0">
            <a:spAutoFit/>
          </a:bodyPr>
          <a:lstStyle/>
          <a:p>
            <a:pPr algn="l">
              <a:lnSpc>
                <a:spcPts val="2940"/>
              </a:lnSpc>
              <a:spcBef>
                <a:spcPct val="0"/>
              </a:spcBef>
            </a:pPr>
            <a:r>
              <a:rPr lang="en-US" b="true" sz="2100">
                <a:solidFill>
                  <a:srgbClr val="FFFFFF"/>
                </a:solidFill>
                <a:latin typeface="Open Sans Medium"/>
                <a:ea typeface="Open Sans Medium"/>
                <a:cs typeface="Open Sans Medium"/>
                <a:sym typeface="Open Sans Medium"/>
              </a:rPr>
              <a:t>Giggling Platypus Co.</a:t>
            </a:r>
          </a:p>
        </p:txBody>
      </p:sp>
      <p:sp>
        <p:nvSpPr>
          <p:cNvPr name="TextBox 6" id="6"/>
          <p:cNvSpPr txBox="true"/>
          <p:nvPr/>
        </p:nvSpPr>
        <p:spPr>
          <a:xfrm rot="0">
            <a:off x="15892252"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05</a:t>
            </a:r>
          </a:p>
        </p:txBody>
      </p:sp>
      <p:grpSp>
        <p:nvGrpSpPr>
          <p:cNvPr name="Group 7" id="7"/>
          <p:cNvGrpSpPr/>
          <p:nvPr/>
        </p:nvGrpSpPr>
        <p:grpSpPr>
          <a:xfrm rot="0">
            <a:off x="-812225" y="398660"/>
            <a:ext cx="7532623" cy="948175"/>
            <a:chOff x="0" y="0"/>
            <a:chExt cx="1983901" cy="249725"/>
          </a:xfrm>
        </p:grpSpPr>
        <p:sp>
          <p:nvSpPr>
            <p:cNvPr name="Freeform 8" id="8"/>
            <p:cNvSpPr/>
            <p:nvPr/>
          </p:nvSpPr>
          <p:spPr>
            <a:xfrm flipH="false" flipV="false" rot="0">
              <a:off x="0" y="0"/>
              <a:ext cx="1983901" cy="249725"/>
            </a:xfrm>
            <a:custGeom>
              <a:avLst/>
              <a:gdLst/>
              <a:ahLst/>
              <a:cxnLst/>
              <a:rect r="r" b="b" t="t" l="l"/>
              <a:pathLst>
                <a:path h="249725" w="1983901">
                  <a:moveTo>
                    <a:pt x="0" y="0"/>
                  </a:moveTo>
                  <a:lnTo>
                    <a:pt x="1983901" y="0"/>
                  </a:lnTo>
                  <a:lnTo>
                    <a:pt x="1983901" y="249725"/>
                  </a:lnTo>
                  <a:lnTo>
                    <a:pt x="0" y="249725"/>
                  </a:lnTo>
                  <a:close/>
                </a:path>
              </a:pathLst>
            </a:custGeom>
            <a:solidFill>
              <a:srgbClr val="C2410A"/>
            </a:solidFill>
          </p:spPr>
        </p:sp>
        <p:sp>
          <p:nvSpPr>
            <p:cNvPr name="TextBox 9" id="9"/>
            <p:cNvSpPr txBox="true"/>
            <p:nvPr/>
          </p:nvSpPr>
          <p:spPr>
            <a:xfrm>
              <a:off x="0" y="-76200"/>
              <a:ext cx="1983901" cy="325925"/>
            </a:xfrm>
            <a:prstGeom prst="rect">
              <a:avLst/>
            </a:prstGeom>
          </p:spPr>
          <p:txBody>
            <a:bodyPr anchor="ctr" rtlCol="false" tIns="50800" lIns="50800" bIns="50800" rIns="50800"/>
            <a:lstStyle/>
            <a:p>
              <a:pPr algn="ctr">
                <a:lnSpc>
                  <a:spcPts val="5879"/>
                </a:lnSpc>
              </a:pPr>
              <a:r>
                <a:rPr lang="en-US" b="true" sz="4199">
                  <a:solidFill>
                    <a:srgbClr val="000000"/>
                  </a:solidFill>
                  <a:latin typeface="Open Sans Medium"/>
                  <a:ea typeface="Open Sans Medium"/>
                  <a:cs typeface="Open Sans Medium"/>
                  <a:sym typeface="Open Sans Medium"/>
                </a:rPr>
                <a:t>Row-Row SpGEMM</a:t>
              </a:r>
            </a:p>
          </p:txBody>
        </p:sp>
      </p:grpSp>
      <p:sp>
        <p:nvSpPr>
          <p:cNvPr name="TextBox 10" id="10"/>
          <p:cNvSpPr txBox="true"/>
          <p:nvPr/>
        </p:nvSpPr>
        <p:spPr>
          <a:xfrm rot="0">
            <a:off x="3841023" y="2605895"/>
            <a:ext cx="11405009" cy="4273581"/>
          </a:xfrm>
          <a:prstGeom prst="rect">
            <a:avLst/>
          </a:prstGeom>
        </p:spPr>
        <p:txBody>
          <a:bodyPr anchor="t" rtlCol="false" tIns="0" lIns="0" bIns="0" rIns="0">
            <a:spAutoFit/>
          </a:bodyPr>
          <a:lstStyle/>
          <a:p>
            <a:pPr algn="ctr">
              <a:lnSpc>
                <a:spcPts val="4107"/>
              </a:lnSpc>
              <a:spcBef>
                <a:spcPct val="0"/>
              </a:spcBef>
            </a:pPr>
            <a:r>
              <a:rPr lang="en-US" b="true" sz="2933">
                <a:solidFill>
                  <a:srgbClr val="000000"/>
                </a:solidFill>
                <a:latin typeface="Open Sans Bold"/>
                <a:ea typeface="Open Sans Bold"/>
                <a:cs typeface="Open Sans Bold"/>
                <a:sym typeface="Open Sans Bold"/>
              </a:rPr>
              <a:t>Phase 3 — Prefix Sum</a:t>
            </a: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thrust::inclusive_scan on nnzC[] → rowPtrC[]</a:t>
            </a: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Runs entirely on GPU — no CPU round-trip</a:t>
            </a: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Tells us where each row's non-zeros start in the final output array</a:t>
            </a:r>
          </a:p>
          <a:p>
            <a:pPr algn="ctr">
              <a:lnSpc>
                <a:spcPts val="3080"/>
              </a:lnSpc>
              <a:spcBef>
                <a:spcPct val="0"/>
              </a:spcBef>
            </a:pPr>
          </a:p>
          <a:p>
            <a:pPr algn="ctr">
              <a:lnSpc>
                <a:spcPts val="4107"/>
              </a:lnSpc>
              <a:spcBef>
                <a:spcPct val="0"/>
              </a:spcBef>
            </a:pPr>
            <a:r>
              <a:rPr lang="en-US" b="true" sz="2933">
                <a:solidFill>
                  <a:srgbClr val="000000"/>
                </a:solidFill>
                <a:latin typeface="Open Sans Bold"/>
                <a:ea typeface="Open Sans Bold"/>
                <a:cs typeface="Open Sans Bold"/>
                <a:sym typeface="Open Sans Bold"/>
              </a:rPr>
              <a:t>Phase 4 — Collect Hash -&gt; CSR (collect_kernel)</a:t>
            </a:r>
          </a:p>
          <a:p>
            <a:pPr algn="ctr">
              <a:lnSpc>
                <a:spcPts val="4107"/>
              </a:lnSpc>
              <a:spcBef>
                <a:spcPct val="0"/>
              </a:spcBef>
            </a:pP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1 thread per row</a:t>
            </a: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Scans the hash table, copies occupied slots into colIdxC[] and valC[]</a:t>
            </a:r>
          </a:p>
          <a:p>
            <a:pPr algn="l" marL="475072" indent="-237536" lvl="1">
              <a:lnSpc>
                <a:spcPts val="3080"/>
              </a:lnSpc>
              <a:buFont typeface="Arial"/>
              <a:buChar char="•"/>
            </a:pPr>
            <a:r>
              <a:rPr lang="en-US" b="true" sz="2200">
                <a:solidFill>
                  <a:srgbClr val="000000"/>
                </a:solidFill>
                <a:latin typeface="Open Sans Medium"/>
                <a:ea typeface="Open Sans Medium"/>
                <a:cs typeface="Open Sans Medium"/>
                <a:sym typeface="Open Sans Medium"/>
              </a:rPr>
              <a:t>Insertion sort within the row to produce sorted CSR output.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0" y="821440"/>
            <a:ext cx="3517636" cy="732655"/>
            <a:chOff x="0" y="0"/>
            <a:chExt cx="926456" cy="192963"/>
          </a:xfrm>
        </p:grpSpPr>
        <p:sp>
          <p:nvSpPr>
            <p:cNvPr name="Freeform 6" id="6"/>
            <p:cNvSpPr/>
            <p:nvPr/>
          </p:nvSpPr>
          <p:spPr>
            <a:xfrm flipH="false" flipV="false" rot="0">
              <a:off x="0" y="0"/>
              <a:ext cx="926456" cy="192963"/>
            </a:xfrm>
            <a:custGeom>
              <a:avLst/>
              <a:gdLst/>
              <a:ahLst/>
              <a:cxnLst/>
              <a:rect r="r" b="b" t="t" l="l"/>
              <a:pathLst>
                <a:path h="192963" w="926456">
                  <a:moveTo>
                    <a:pt x="0" y="0"/>
                  </a:moveTo>
                  <a:lnTo>
                    <a:pt x="926456" y="0"/>
                  </a:lnTo>
                  <a:lnTo>
                    <a:pt x="926456" y="192963"/>
                  </a:lnTo>
                  <a:lnTo>
                    <a:pt x="0" y="192963"/>
                  </a:lnTo>
                  <a:close/>
                </a:path>
              </a:pathLst>
            </a:custGeom>
            <a:solidFill>
              <a:srgbClr val="C2410A"/>
            </a:solidFill>
          </p:spPr>
        </p:sp>
        <p:sp>
          <p:nvSpPr>
            <p:cNvPr name="TextBox 7" id="7"/>
            <p:cNvSpPr txBox="true"/>
            <p:nvPr/>
          </p:nvSpPr>
          <p:spPr>
            <a:xfrm>
              <a:off x="0" y="-38100"/>
              <a:ext cx="926456" cy="231063"/>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3165796" y="2847247"/>
            <a:ext cx="12313960" cy="3283669"/>
            <a:chOff x="0" y="0"/>
            <a:chExt cx="4816593" cy="1284404"/>
          </a:xfrm>
        </p:grpSpPr>
        <p:sp>
          <p:nvSpPr>
            <p:cNvPr name="Freeform 9" id="9"/>
            <p:cNvSpPr/>
            <p:nvPr/>
          </p:nvSpPr>
          <p:spPr>
            <a:xfrm flipH="false" flipV="false" rot="0">
              <a:off x="0" y="0"/>
              <a:ext cx="4816592" cy="1284404"/>
            </a:xfrm>
            <a:custGeom>
              <a:avLst/>
              <a:gdLst/>
              <a:ahLst/>
              <a:cxnLst/>
              <a:rect r="r" b="b" t="t" l="l"/>
              <a:pathLst>
                <a:path h="1284404" w="4816592">
                  <a:moveTo>
                    <a:pt x="0" y="0"/>
                  </a:moveTo>
                  <a:lnTo>
                    <a:pt x="4816592" y="0"/>
                  </a:lnTo>
                  <a:lnTo>
                    <a:pt x="4816592" y="1284404"/>
                  </a:lnTo>
                  <a:lnTo>
                    <a:pt x="0" y="1284404"/>
                  </a:lnTo>
                  <a:close/>
                </a:path>
              </a:pathLst>
            </a:custGeom>
            <a:solidFill>
              <a:srgbClr val="000000"/>
            </a:solidFill>
          </p:spPr>
        </p:sp>
        <p:sp>
          <p:nvSpPr>
            <p:cNvPr name="TextBox 10" id="10"/>
            <p:cNvSpPr txBox="true"/>
            <p:nvPr/>
          </p:nvSpPr>
          <p:spPr>
            <a:xfrm>
              <a:off x="0" y="-38100"/>
              <a:ext cx="4816593" cy="1322504"/>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3165796" y="2847247"/>
            <a:ext cx="12313960" cy="3283669"/>
            <a:chOff x="0" y="0"/>
            <a:chExt cx="2833290" cy="755532"/>
          </a:xfrm>
        </p:grpSpPr>
        <p:sp>
          <p:nvSpPr>
            <p:cNvPr name="Freeform 12" id="12"/>
            <p:cNvSpPr/>
            <p:nvPr/>
          </p:nvSpPr>
          <p:spPr>
            <a:xfrm flipH="false" flipV="false" rot="0">
              <a:off x="0" y="0"/>
              <a:ext cx="2833290" cy="755532"/>
            </a:xfrm>
            <a:custGeom>
              <a:avLst/>
              <a:gdLst/>
              <a:ahLst/>
              <a:cxnLst/>
              <a:rect r="r" b="b" t="t" l="l"/>
              <a:pathLst>
                <a:path h="755532" w="2833290">
                  <a:moveTo>
                    <a:pt x="0" y="0"/>
                  </a:moveTo>
                  <a:lnTo>
                    <a:pt x="2833290" y="0"/>
                  </a:lnTo>
                  <a:lnTo>
                    <a:pt x="2833290" y="755532"/>
                  </a:lnTo>
                  <a:lnTo>
                    <a:pt x="0" y="755532"/>
                  </a:lnTo>
                  <a:close/>
                </a:path>
              </a:pathLst>
            </a:custGeom>
            <a:blipFill>
              <a:blip r:embed="rId2">
                <a:alphaModFix amt="19999"/>
              </a:blip>
              <a:stretch>
                <a:fillRect l="0" t="-75002" r="0" b="-75002"/>
              </a:stretch>
            </a:blipFill>
          </p:spPr>
        </p:sp>
      </p:grpSp>
      <p:grpSp>
        <p:nvGrpSpPr>
          <p:cNvPr name="Group 13" id="13"/>
          <p:cNvGrpSpPr/>
          <p:nvPr/>
        </p:nvGrpSpPr>
        <p:grpSpPr>
          <a:xfrm rot="0">
            <a:off x="3858456" y="3218372"/>
            <a:ext cx="3508160" cy="2548260"/>
            <a:chOff x="0" y="0"/>
            <a:chExt cx="4677546" cy="3397680"/>
          </a:xfrm>
        </p:grpSpPr>
        <p:grpSp>
          <p:nvGrpSpPr>
            <p:cNvPr name="Group 14" id="14"/>
            <p:cNvGrpSpPr/>
            <p:nvPr/>
          </p:nvGrpSpPr>
          <p:grpSpPr>
            <a:xfrm rot="0">
              <a:off x="0" y="0"/>
              <a:ext cx="4677546" cy="3397680"/>
              <a:chOff x="0" y="0"/>
              <a:chExt cx="1372213" cy="996749"/>
            </a:xfrm>
          </p:grpSpPr>
          <p:sp>
            <p:nvSpPr>
              <p:cNvPr name="Freeform 15" id="15"/>
              <p:cNvSpPr/>
              <p:nvPr/>
            </p:nvSpPr>
            <p:spPr>
              <a:xfrm flipH="false" flipV="false" rot="0">
                <a:off x="0" y="0"/>
                <a:ext cx="1372213" cy="996749"/>
              </a:xfrm>
              <a:custGeom>
                <a:avLst/>
                <a:gdLst/>
                <a:ahLst/>
                <a:cxnLst/>
                <a:rect r="r" b="b" t="t" l="l"/>
                <a:pathLst>
                  <a:path h="996749" w="1372213">
                    <a:moveTo>
                      <a:pt x="0" y="0"/>
                    </a:moveTo>
                    <a:lnTo>
                      <a:pt x="1372213" y="0"/>
                    </a:lnTo>
                    <a:lnTo>
                      <a:pt x="1372213" y="996749"/>
                    </a:lnTo>
                    <a:lnTo>
                      <a:pt x="0" y="996749"/>
                    </a:lnTo>
                    <a:close/>
                  </a:path>
                </a:pathLst>
              </a:custGeom>
              <a:solidFill>
                <a:srgbClr val="C2410A"/>
              </a:solidFill>
            </p:spPr>
          </p:sp>
          <p:sp>
            <p:nvSpPr>
              <p:cNvPr name="TextBox 16" id="16"/>
              <p:cNvSpPr txBox="true"/>
              <p:nvPr/>
            </p:nvSpPr>
            <p:spPr>
              <a:xfrm>
                <a:off x="0" y="-38100"/>
                <a:ext cx="1372213" cy="1034849"/>
              </a:xfrm>
              <a:prstGeom prst="rect">
                <a:avLst/>
              </a:prstGeom>
            </p:spPr>
            <p:txBody>
              <a:bodyPr anchor="ctr" rtlCol="false" tIns="50800" lIns="50800" bIns="50800" rIns="50800"/>
              <a:lstStyle/>
              <a:p>
                <a:pPr algn="ctr">
                  <a:lnSpc>
                    <a:spcPts val="2939"/>
                  </a:lnSpc>
                </a:pPr>
              </a:p>
            </p:txBody>
          </p:sp>
        </p:grpSp>
        <p:grpSp>
          <p:nvGrpSpPr>
            <p:cNvPr name="Group 17" id="17"/>
            <p:cNvGrpSpPr/>
            <p:nvPr/>
          </p:nvGrpSpPr>
          <p:grpSpPr>
            <a:xfrm rot="0">
              <a:off x="2006569" y="433547"/>
              <a:ext cx="664407" cy="664407"/>
              <a:chOff x="0" y="0"/>
              <a:chExt cx="194912" cy="194912"/>
            </a:xfrm>
          </p:grpSpPr>
          <p:sp>
            <p:nvSpPr>
              <p:cNvPr name="Freeform 18" id="18"/>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FFFFFF"/>
              </a:solidFill>
            </p:spPr>
          </p:sp>
          <p:sp>
            <p:nvSpPr>
              <p:cNvPr name="TextBox 19" id="19"/>
              <p:cNvSpPr txBox="true"/>
              <p:nvPr/>
            </p:nvSpPr>
            <p:spPr>
              <a:xfrm>
                <a:off x="0" y="-38100"/>
                <a:ext cx="194912" cy="233012"/>
              </a:xfrm>
              <a:prstGeom prst="rect">
                <a:avLst/>
              </a:prstGeom>
            </p:spPr>
            <p:txBody>
              <a:bodyPr anchor="ctr" rtlCol="false" tIns="50800" lIns="50800" bIns="50800" rIns="50800"/>
              <a:lstStyle/>
              <a:p>
                <a:pPr algn="ctr">
                  <a:lnSpc>
                    <a:spcPts val="2939"/>
                  </a:lnSpc>
                </a:pPr>
              </a:p>
            </p:txBody>
          </p:sp>
        </p:grpSp>
        <p:sp>
          <p:nvSpPr>
            <p:cNvPr name="TextBox 20" id="20"/>
            <p:cNvSpPr txBox="true"/>
            <p:nvPr/>
          </p:nvSpPr>
          <p:spPr>
            <a:xfrm rot="0">
              <a:off x="2072989" y="603893"/>
              <a:ext cx="531568" cy="304665"/>
            </a:xfrm>
            <a:prstGeom prst="rect">
              <a:avLst/>
            </a:prstGeom>
          </p:spPr>
          <p:txBody>
            <a:bodyPr anchor="t" rtlCol="false" tIns="0" lIns="0" bIns="0" rIns="0">
              <a:spAutoFit/>
            </a:bodyPr>
            <a:lstStyle/>
            <a:p>
              <a:pPr algn="ctr">
                <a:lnSpc>
                  <a:spcPts val="1979"/>
                </a:lnSpc>
                <a:spcBef>
                  <a:spcPct val="0"/>
                </a:spcBef>
              </a:pPr>
              <a:r>
                <a:rPr lang="en-US" b="true" sz="1414">
                  <a:solidFill>
                    <a:srgbClr val="000000"/>
                  </a:solidFill>
                  <a:latin typeface="Open Sans Medium"/>
                  <a:ea typeface="Open Sans Medium"/>
                  <a:cs typeface="Open Sans Medium"/>
                  <a:sym typeface="Open Sans Medium"/>
                </a:rPr>
                <a:t>01</a:t>
              </a:r>
            </a:p>
          </p:txBody>
        </p:sp>
        <p:sp>
          <p:nvSpPr>
            <p:cNvPr name="TextBox 21" id="21"/>
            <p:cNvSpPr txBox="true"/>
            <p:nvPr/>
          </p:nvSpPr>
          <p:spPr>
            <a:xfrm rot="0">
              <a:off x="488033" y="1301708"/>
              <a:ext cx="3701481" cy="418921"/>
            </a:xfrm>
            <a:prstGeom prst="rect">
              <a:avLst/>
            </a:prstGeom>
          </p:spPr>
          <p:txBody>
            <a:bodyPr anchor="t" rtlCol="false" tIns="0" lIns="0" bIns="0" rIns="0">
              <a:spAutoFit/>
            </a:bodyPr>
            <a:lstStyle/>
            <a:p>
              <a:pPr algn="ctr">
                <a:lnSpc>
                  <a:spcPts val="2639"/>
                </a:lnSpc>
                <a:spcBef>
                  <a:spcPct val="0"/>
                </a:spcBef>
              </a:pPr>
              <a:r>
                <a:rPr lang="en-US" b="true" sz="1885">
                  <a:solidFill>
                    <a:srgbClr val="FFFFFF"/>
                  </a:solidFill>
                  <a:latin typeface="Open Sans Medium"/>
                  <a:ea typeface="Open Sans Medium"/>
                  <a:cs typeface="Open Sans Medium"/>
                  <a:sym typeface="Open Sans Medium"/>
                </a:rPr>
                <a:t>Load Imbalance</a:t>
              </a:r>
            </a:p>
          </p:txBody>
        </p:sp>
        <p:sp>
          <p:nvSpPr>
            <p:cNvPr name="TextBox 22" id="22"/>
            <p:cNvSpPr txBox="true"/>
            <p:nvPr/>
          </p:nvSpPr>
          <p:spPr>
            <a:xfrm rot="0">
              <a:off x="488033" y="1933909"/>
              <a:ext cx="3701481" cy="1030225"/>
            </a:xfrm>
            <a:prstGeom prst="rect">
              <a:avLst/>
            </a:prstGeom>
          </p:spPr>
          <p:txBody>
            <a:bodyPr anchor="t" rtlCol="false" tIns="0" lIns="0" bIns="0" rIns="0">
              <a:spAutoFit/>
            </a:bodyPr>
            <a:lstStyle/>
            <a:p>
              <a:pPr algn="ctr">
                <a:lnSpc>
                  <a:spcPts val="2073"/>
                </a:lnSpc>
                <a:spcBef>
                  <a:spcPct val="0"/>
                </a:spcBef>
              </a:pPr>
              <a:r>
                <a:rPr lang="en-US" sz="1481">
                  <a:solidFill>
                    <a:srgbClr val="FFFFFF"/>
                  </a:solidFill>
                  <a:latin typeface="Open Sans"/>
                  <a:ea typeface="Open Sans"/>
                  <a:cs typeface="Open Sans"/>
                  <a:sym typeface="Open Sans"/>
                </a:rPr>
                <a:t>Some rows have huge work, others very small → GPU underutilized</a:t>
              </a:r>
            </a:p>
          </p:txBody>
        </p:sp>
      </p:grpSp>
      <p:sp>
        <p:nvSpPr>
          <p:cNvPr name="TextBox 23" id="23"/>
          <p:cNvSpPr txBox="true"/>
          <p:nvPr/>
        </p:nvSpPr>
        <p:spPr>
          <a:xfrm rot="0">
            <a:off x="705313" y="916305"/>
            <a:ext cx="2812323" cy="495301"/>
          </a:xfrm>
          <a:prstGeom prst="rect">
            <a:avLst/>
          </a:prstGeom>
        </p:spPr>
        <p:txBody>
          <a:bodyPr anchor="t" rtlCol="false" tIns="0" lIns="0" bIns="0" rIns="0">
            <a:spAutoFit/>
          </a:bodyPr>
          <a:lstStyle/>
          <a:p>
            <a:pPr algn="l">
              <a:lnSpc>
                <a:spcPts val="4199"/>
              </a:lnSpc>
              <a:spcBef>
                <a:spcPct val="0"/>
              </a:spcBef>
            </a:pPr>
            <a:r>
              <a:rPr lang="en-US" b="true" sz="2999">
                <a:solidFill>
                  <a:srgbClr val="FFFFFF"/>
                </a:solidFill>
                <a:latin typeface="Open Sans Medium"/>
                <a:ea typeface="Open Sans Medium"/>
                <a:cs typeface="Open Sans Medium"/>
                <a:sym typeface="Open Sans Medium"/>
              </a:rPr>
              <a:t>Challenges</a:t>
            </a:r>
          </a:p>
        </p:txBody>
      </p:sp>
      <p:sp>
        <p:nvSpPr>
          <p:cNvPr name="TextBox 24" id="24"/>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06</a:t>
            </a:r>
          </a:p>
        </p:txBody>
      </p:sp>
      <p:sp>
        <p:nvSpPr>
          <p:cNvPr name="TextBox 25" id="25"/>
          <p:cNvSpPr txBox="true"/>
          <p:nvPr/>
        </p:nvSpPr>
        <p:spPr>
          <a:xfrm rot="0">
            <a:off x="4332379" y="1837597"/>
            <a:ext cx="10823926" cy="733425"/>
          </a:xfrm>
          <a:prstGeom prst="rect">
            <a:avLst/>
          </a:prstGeom>
        </p:spPr>
        <p:txBody>
          <a:bodyPr anchor="t" rtlCol="false" tIns="0" lIns="0" bIns="0" rIns="0">
            <a:spAutoFit/>
          </a:bodyPr>
          <a:lstStyle/>
          <a:p>
            <a:pPr algn="ctr">
              <a:lnSpc>
                <a:spcPts val="5880"/>
              </a:lnSpc>
            </a:pPr>
            <a:r>
              <a:rPr lang="en-US" sz="4900" b="true">
                <a:solidFill>
                  <a:srgbClr val="000000"/>
                </a:solidFill>
                <a:latin typeface="Open Sauce Bold"/>
                <a:ea typeface="Open Sauce Bold"/>
                <a:cs typeface="Open Sauce Bold"/>
                <a:sym typeface="Open Sauce Bold"/>
              </a:rPr>
              <a:t>Limitations of Row-Row SpGEMM</a:t>
            </a:r>
          </a:p>
        </p:txBody>
      </p:sp>
      <p:grpSp>
        <p:nvGrpSpPr>
          <p:cNvPr name="Group 26" id="26"/>
          <p:cNvGrpSpPr/>
          <p:nvPr/>
        </p:nvGrpSpPr>
        <p:grpSpPr>
          <a:xfrm rot="0">
            <a:off x="7568696" y="3218372"/>
            <a:ext cx="3508160" cy="2548260"/>
            <a:chOff x="0" y="0"/>
            <a:chExt cx="4677546" cy="3397680"/>
          </a:xfrm>
        </p:grpSpPr>
        <p:grpSp>
          <p:nvGrpSpPr>
            <p:cNvPr name="Group 27" id="27"/>
            <p:cNvGrpSpPr/>
            <p:nvPr/>
          </p:nvGrpSpPr>
          <p:grpSpPr>
            <a:xfrm rot="0">
              <a:off x="0" y="0"/>
              <a:ext cx="4677546" cy="3397680"/>
              <a:chOff x="0" y="0"/>
              <a:chExt cx="1372213" cy="996749"/>
            </a:xfrm>
          </p:grpSpPr>
          <p:sp>
            <p:nvSpPr>
              <p:cNvPr name="Freeform 28" id="28"/>
              <p:cNvSpPr/>
              <p:nvPr/>
            </p:nvSpPr>
            <p:spPr>
              <a:xfrm flipH="false" flipV="false" rot="0">
                <a:off x="0" y="0"/>
                <a:ext cx="1372213" cy="996749"/>
              </a:xfrm>
              <a:custGeom>
                <a:avLst/>
                <a:gdLst/>
                <a:ahLst/>
                <a:cxnLst/>
                <a:rect r="r" b="b" t="t" l="l"/>
                <a:pathLst>
                  <a:path h="996749" w="1372213">
                    <a:moveTo>
                      <a:pt x="0" y="0"/>
                    </a:moveTo>
                    <a:lnTo>
                      <a:pt x="1372213" y="0"/>
                    </a:lnTo>
                    <a:lnTo>
                      <a:pt x="1372213" y="996749"/>
                    </a:lnTo>
                    <a:lnTo>
                      <a:pt x="0" y="996749"/>
                    </a:lnTo>
                    <a:close/>
                  </a:path>
                </a:pathLst>
              </a:custGeom>
              <a:solidFill>
                <a:srgbClr val="C2410A"/>
              </a:solidFill>
            </p:spPr>
          </p:sp>
          <p:sp>
            <p:nvSpPr>
              <p:cNvPr name="TextBox 29" id="29"/>
              <p:cNvSpPr txBox="true"/>
              <p:nvPr/>
            </p:nvSpPr>
            <p:spPr>
              <a:xfrm>
                <a:off x="0" y="-38100"/>
                <a:ext cx="1372213" cy="1034849"/>
              </a:xfrm>
              <a:prstGeom prst="rect">
                <a:avLst/>
              </a:prstGeom>
            </p:spPr>
            <p:txBody>
              <a:bodyPr anchor="ctr" rtlCol="false" tIns="50800" lIns="50800" bIns="50800" rIns="50800"/>
              <a:lstStyle/>
              <a:p>
                <a:pPr algn="ctr">
                  <a:lnSpc>
                    <a:spcPts val="2939"/>
                  </a:lnSpc>
                </a:pPr>
              </a:p>
            </p:txBody>
          </p:sp>
        </p:grpSp>
        <p:grpSp>
          <p:nvGrpSpPr>
            <p:cNvPr name="Group 30" id="30"/>
            <p:cNvGrpSpPr/>
            <p:nvPr/>
          </p:nvGrpSpPr>
          <p:grpSpPr>
            <a:xfrm rot="0">
              <a:off x="2006569" y="433547"/>
              <a:ext cx="664407" cy="664407"/>
              <a:chOff x="0" y="0"/>
              <a:chExt cx="194912" cy="194912"/>
            </a:xfrm>
          </p:grpSpPr>
          <p:sp>
            <p:nvSpPr>
              <p:cNvPr name="Freeform 31" id="31"/>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FFFFFF"/>
              </a:solidFill>
            </p:spPr>
          </p:sp>
          <p:sp>
            <p:nvSpPr>
              <p:cNvPr name="TextBox 32" id="32"/>
              <p:cNvSpPr txBox="true"/>
              <p:nvPr/>
            </p:nvSpPr>
            <p:spPr>
              <a:xfrm>
                <a:off x="0" y="-38100"/>
                <a:ext cx="194912" cy="233012"/>
              </a:xfrm>
              <a:prstGeom prst="rect">
                <a:avLst/>
              </a:prstGeom>
            </p:spPr>
            <p:txBody>
              <a:bodyPr anchor="ctr" rtlCol="false" tIns="50800" lIns="50800" bIns="50800" rIns="50800"/>
              <a:lstStyle/>
              <a:p>
                <a:pPr algn="ctr">
                  <a:lnSpc>
                    <a:spcPts val="2939"/>
                  </a:lnSpc>
                </a:pPr>
              </a:p>
            </p:txBody>
          </p:sp>
        </p:grpSp>
        <p:sp>
          <p:nvSpPr>
            <p:cNvPr name="TextBox 33" id="33"/>
            <p:cNvSpPr txBox="true"/>
            <p:nvPr/>
          </p:nvSpPr>
          <p:spPr>
            <a:xfrm rot="0">
              <a:off x="2072989" y="603893"/>
              <a:ext cx="531568" cy="304665"/>
            </a:xfrm>
            <a:prstGeom prst="rect">
              <a:avLst/>
            </a:prstGeom>
          </p:spPr>
          <p:txBody>
            <a:bodyPr anchor="t" rtlCol="false" tIns="0" lIns="0" bIns="0" rIns="0">
              <a:spAutoFit/>
            </a:bodyPr>
            <a:lstStyle/>
            <a:p>
              <a:pPr algn="ctr">
                <a:lnSpc>
                  <a:spcPts val="1979"/>
                </a:lnSpc>
                <a:spcBef>
                  <a:spcPct val="0"/>
                </a:spcBef>
              </a:pPr>
              <a:r>
                <a:rPr lang="en-US" b="true" sz="1414">
                  <a:solidFill>
                    <a:srgbClr val="000000"/>
                  </a:solidFill>
                  <a:latin typeface="Open Sans Medium"/>
                  <a:ea typeface="Open Sans Medium"/>
                  <a:cs typeface="Open Sans Medium"/>
                  <a:sym typeface="Open Sans Medium"/>
                </a:rPr>
                <a:t>02</a:t>
              </a:r>
            </a:p>
          </p:txBody>
        </p:sp>
        <p:sp>
          <p:nvSpPr>
            <p:cNvPr name="TextBox 34" id="34"/>
            <p:cNvSpPr txBox="true"/>
            <p:nvPr/>
          </p:nvSpPr>
          <p:spPr>
            <a:xfrm rot="0">
              <a:off x="488033" y="1301708"/>
              <a:ext cx="3701481" cy="418921"/>
            </a:xfrm>
            <a:prstGeom prst="rect">
              <a:avLst/>
            </a:prstGeom>
          </p:spPr>
          <p:txBody>
            <a:bodyPr anchor="t" rtlCol="false" tIns="0" lIns="0" bIns="0" rIns="0">
              <a:spAutoFit/>
            </a:bodyPr>
            <a:lstStyle/>
            <a:p>
              <a:pPr algn="ctr">
                <a:lnSpc>
                  <a:spcPts val="2639"/>
                </a:lnSpc>
                <a:spcBef>
                  <a:spcPct val="0"/>
                </a:spcBef>
              </a:pPr>
              <a:r>
                <a:rPr lang="en-US" b="true" sz="1885">
                  <a:solidFill>
                    <a:srgbClr val="FFFFFF"/>
                  </a:solidFill>
                  <a:latin typeface="Open Sans Medium"/>
                  <a:ea typeface="Open Sans Medium"/>
                  <a:cs typeface="Open Sans Medium"/>
                  <a:sym typeface="Open Sans Medium"/>
                </a:rPr>
                <a:t>Unknown Output Size</a:t>
              </a:r>
            </a:p>
          </p:txBody>
        </p:sp>
        <p:sp>
          <p:nvSpPr>
            <p:cNvPr name="TextBox 35" id="35"/>
            <p:cNvSpPr txBox="true"/>
            <p:nvPr/>
          </p:nvSpPr>
          <p:spPr>
            <a:xfrm rot="0">
              <a:off x="488033" y="1933909"/>
              <a:ext cx="3701481" cy="1030225"/>
            </a:xfrm>
            <a:prstGeom prst="rect">
              <a:avLst/>
            </a:prstGeom>
          </p:spPr>
          <p:txBody>
            <a:bodyPr anchor="t" rtlCol="false" tIns="0" lIns="0" bIns="0" rIns="0">
              <a:spAutoFit/>
            </a:bodyPr>
            <a:lstStyle/>
            <a:p>
              <a:pPr algn="ctr">
                <a:lnSpc>
                  <a:spcPts val="2073"/>
                </a:lnSpc>
                <a:spcBef>
                  <a:spcPct val="0"/>
                </a:spcBef>
              </a:pPr>
              <a:r>
                <a:rPr lang="en-US" sz="1481">
                  <a:solidFill>
                    <a:srgbClr val="FFFFFF"/>
                  </a:solidFill>
                  <a:latin typeface="Open Sans"/>
                  <a:ea typeface="Open Sans"/>
                  <a:cs typeface="Open Sans"/>
                  <a:sym typeface="Open Sans"/>
                </a:rPr>
                <a:t>Cannot predict number of non-zeros → memory allocation issue</a:t>
              </a:r>
            </a:p>
          </p:txBody>
        </p:sp>
      </p:grpSp>
      <p:grpSp>
        <p:nvGrpSpPr>
          <p:cNvPr name="Group 36" id="36"/>
          <p:cNvGrpSpPr/>
          <p:nvPr/>
        </p:nvGrpSpPr>
        <p:grpSpPr>
          <a:xfrm rot="0">
            <a:off x="11278935" y="3205883"/>
            <a:ext cx="3834375" cy="2560749"/>
            <a:chOff x="0" y="0"/>
            <a:chExt cx="5112501" cy="3414332"/>
          </a:xfrm>
        </p:grpSpPr>
        <p:grpSp>
          <p:nvGrpSpPr>
            <p:cNvPr name="Group 37" id="37"/>
            <p:cNvGrpSpPr/>
            <p:nvPr/>
          </p:nvGrpSpPr>
          <p:grpSpPr>
            <a:xfrm rot="0">
              <a:off x="0" y="0"/>
              <a:ext cx="5112501" cy="3414332"/>
              <a:chOff x="0" y="0"/>
              <a:chExt cx="1372213" cy="916419"/>
            </a:xfrm>
          </p:grpSpPr>
          <p:sp>
            <p:nvSpPr>
              <p:cNvPr name="Freeform 38" id="38"/>
              <p:cNvSpPr/>
              <p:nvPr/>
            </p:nvSpPr>
            <p:spPr>
              <a:xfrm flipH="false" flipV="false" rot="0">
                <a:off x="0" y="0"/>
                <a:ext cx="1372213" cy="916419"/>
              </a:xfrm>
              <a:custGeom>
                <a:avLst/>
                <a:gdLst/>
                <a:ahLst/>
                <a:cxnLst/>
                <a:rect r="r" b="b" t="t" l="l"/>
                <a:pathLst>
                  <a:path h="916419" w="1372213">
                    <a:moveTo>
                      <a:pt x="0" y="0"/>
                    </a:moveTo>
                    <a:lnTo>
                      <a:pt x="1372213" y="0"/>
                    </a:lnTo>
                    <a:lnTo>
                      <a:pt x="1372213" y="916419"/>
                    </a:lnTo>
                    <a:lnTo>
                      <a:pt x="0" y="916419"/>
                    </a:lnTo>
                    <a:close/>
                  </a:path>
                </a:pathLst>
              </a:custGeom>
              <a:solidFill>
                <a:srgbClr val="C2410A"/>
              </a:solidFill>
            </p:spPr>
          </p:sp>
          <p:sp>
            <p:nvSpPr>
              <p:cNvPr name="TextBox 39" id="39"/>
              <p:cNvSpPr txBox="true"/>
              <p:nvPr/>
            </p:nvSpPr>
            <p:spPr>
              <a:xfrm>
                <a:off x="0" y="-38100"/>
                <a:ext cx="1372213" cy="954519"/>
              </a:xfrm>
              <a:prstGeom prst="rect">
                <a:avLst/>
              </a:prstGeom>
            </p:spPr>
            <p:txBody>
              <a:bodyPr anchor="ctr" rtlCol="false" tIns="50800" lIns="50800" bIns="50800" rIns="50800"/>
              <a:lstStyle/>
              <a:p>
                <a:pPr algn="ctr">
                  <a:lnSpc>
                    <a:spcPts val="2939"/>
                  </a:lnSpc>
                </a:pPr>
              </a:p>
            </p:txBody>
          </p:sp>
        </p:grpSp>
        <p:grpSp>
          <p:nvGrpSpPr>
            <p:cNvPr name="Group 40" id="40"/>
            <p:cNvGrpSpPr/>
            <p:nvPr/>
          </p:nvGrpSpPr>
          <p:grpSpPr>
            <a:xfrm rot="0">
              <a:off x="2193156" y="492062"/>
              <a:ext cx="726189" cy="726189"/>
              <a:chOff x="0" y="0"/>
              <a:chExt cx="194912" cy="194912"/>
            </a:xfrm>
          </p:grpSpPr>
          <p:sp>
            <p:nvSpPr>
              <p:cNvPr name="Freeform 41" id="41"/>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FFFFFF"/>
              </a:solidFill>
            </p:spPr>
          </p:sp>
          <p:sp>
            <p:nvSpPr>
              <p:cNvPr name="TextBox 42" id="42"/>
              <p:cNvSpPr txBox="true"/>
              <p:nvPr/>
            </p:nvSpPr>
            <p:spPr>
              <a:xfrm>
                <a:off x="0" y="-38100"/>
                <a:ext cx="194912" cy="233012"/>
              </a:xfrm>
              <a:prstGeom prst="rect">
                <a:avLst/>
              </a:prstGeom>
            </p:spPr>
            <p:txBody>
              <a:bodyPr anchor="ctr" rtlCol="false" tIns="50800" lIns="50800" bIns="50800" rIns="50800"/>
              <a:lstStyle/>
              <a:p>
                <a:pPr algn="ctr">
                  <a:lnSpc>
                    <a:spcPts val="2939"/>
                  </a:lnSpc>
                </a:pPr>
              </a:p>
            </p:txBody>
          </p:sp>
        </p:grpSp>
        <p:sp>
          <p:nvSpPr>
            <p:cNvPr name="TextBox 43" id="43"/>
            <p:cNvSpPr txBox="true"/>
            <p:nvPr/>
          </p:nvSpPr>
          <p:spPr>
            <a:xfrm rot="0">
              <a:off x="2265752" y="670494"/>
              <a:ext cx="580998" cy="340749"/>
            </a:xfrm>
            <a:prstGeom prst="rect">
              <a:avLst/>
            </a:prstGeom>
          </p:spPr>
          <p:txBody>
            <a:bodyPr anchor="t" rtlCol="false" tIns="0" lIns="0" bIns="0" rIns="0">
              <a:spAutoFit/>
            </a:bodyPr>
            <a:lstStyle/>
            <a:p>
              <a:pPr algn="ctr">
                <a:lnSpc>
                  <a:spcPts val="2163"/>
                </a:lnSpc>
                <a:spcBef>
                  <a:spcPct val="0"/>
                </a:spcBef>
              </a:pPr>
              <a:r>
                <a:rPr lang="en-US" b="true" sz="1545">
                  <a:solidFill>
                    <a:srgbClr val="000000"/>
                  </a:solidFill>
                  <a:latin typeface="Open Sans Medium"/>
                  <a:ea typeface="Open Sans Medium"/>
                  <a:cs typeface="Open Sans Medium"/>
                  <a:sym typeface="Open Sans Medium"/>
                </a:rPr>
                <a:t>03</a:t>
              </a:r>
            </a:p>
          </p:txBody>
        </p:sp>
        <p:sp>
          <p:nvSpPr>
            <p:cNvPr name="TextBox 44" id="44"/>
            <p:cNvSpPr txBox="true"/>
            <p:nvPr/>
          </p:nvSpPr>
          <p:spPr>
            <a:xfrm rot="0">
              <a:off x="390121" y="1463236"/>
              <a:ext cx="4332260" cy="444808"/>
            </a:xfrm>
            <a:prstGeom prst="rect">
              <a:avLst/>
            </a:prstGeom>
          </p:spPr>
          <p:txBody>
            <a:bodyPr anchor="t" rtlCol="false" tIns="0" lIns="0" bIns="0" rIns="0">
              <a:spAutoFit/>
            </a:bodyPr>
            <a:lstStyle/>
            <a:p>
              <a:pPr algn="ctr">
                <a:lnSpc>
                  <a:spcPts val="2884"/>
                </a:lnSpc>
                <a:spcBef>
                  <a:spcPct val="0"/>
                </a:spcBef>
              </a:pPr>
              <a:r>
                <a:rPr lang="en-US" b="true" sz="2060">
                  <a:solidFill>
                    <a:srgbClr val="FFFFFF"/>
                  </a:solidFill>
                  <a:latin typeface="Open Sans Medium"/>
                  <a:ea typeface="Open Sans Medium"/>
                  <a:cs typeface="Open Sans Medium"/>
                  <a:sym typeface="Open Sans Medium"/>
                </a:rPr>
                <a:t>High Memory usage</a:t>
              </a:r>
            </a:p>
          </p:txBody>
        </p:sp>
        <p:sp>
          <p:nvSpPr>
            <p:cNvPr name="TextBox 45" id="45"/>
            <p:cNvSpPr txBox="true"/>
            <p:nvPr/>
          </p:nvSpPr>
          <p:spPr>
            <a:xfrm rot="0">
              <a:off x="390121" y="2150518"/>
              <a:ext cx="4579087" cy="740158"/>
            </a:xfrm>
            <a:prstGeom prst="rect">
              <a:avLst/>
            </a:prstGeom>
          </p:spPr>
          <p:txBody>
            <a:bodyPr anchor="t" rtlCol="false" tIns="0" lIns="0" bIns="0" rIns="0">
              <a:spAutoFit/>
            </a:bodyPr>
            <a:lstStyle/>
            <a:p>
              <a:pPr algn="ctr">
                <a:lnSpc>
                  <a:spcPts val="2266"/>
                </a:lnSpc>
                <a:spcBef>
                  <a:spcPct val="0"/>
                </a:spcBef>
              </a:pPr>
              <a:r>
                <a:rPr lang="en-US" b="true" sz="1619">
                  <a:solidFill>
                    <a:srgbClr val="FFFFFF"/>
                  </a:solidFill>
                  <a:latin typeface="Open Sans Medium"/>
                  <a:ea typeface="Open Sans Medium"/>
                  <a:cs typeface="Open Sans Medium"/>
                  <a:sym typeface="Open Sans Medium"/>
                </a:rPr>
                <a:t>High memory usage for intermediate results</a:t>
              </a:r>
            </a:p>
          </p:txBody>
        </p:sp>
      </p:grpSp>
      <p:sp>
        <p:nvSpPr>
          <p:cNvPr name="TextBox 46" id="46"/>
          <p:cNvSpPr txBox="true"/>
          <p:nvPr/>
        </p:nvSpPr>
        <p:spPr>
          <a:xfrm rot="0">
            <a:off x="4182113" y="8427402"/>
            <a:ext cx="9332565" cy="1604645"/>
          </a:xfrm>
          <a:prstGeom prst="rect">
            <a:avLst/>
          </a:prstGeom>
        </p:spPr>
        <p:txBody>
          <a:bodyPr anchor="t" rtlCol="false" tIns="0" lIns="0" bIns="0" rIns="0">
            <a:spAutoFit/>
          </a:bodyPr>
          <a:lstStyle/>
          <a:p>
            <a:pPr algn="ctr">
              <a:lnSpc>
                <a:spcPts val="3919"/>
              </a:lnSpc>
              <a:spcBef>
                <a:spcPct val="0"/>
              </a:spcBef>
            </a:pPr>
            <a:r>
              <a:rPr lang="en-US" b="true" sz="2799">
                <a:solidFill>
                  <a:srgbClr val="14110E"/>
                </a:solidFill>
                <a:latin typeface="Open Sans Bold"/>
                <a:ea typeface="Open Sans Bold"/>
                <a:cs typeface="Open Sans Bold"/>
                <a:sym typeface="Open Sans Bold"/>
              </a:rPr>
              <a:t>Batching</a:t>
            </a:r>
          </a:p>
          <a:p>
            <a:pPr algn="ctr">
              <a:lnSpc>
                <a:spcPts val="2940"/>
              </a:lnSpc>
              <a:spcBef>
                <a:spcPct val="0"/>
              </a:spcBef>
            </a:pPr>
            <a:r>
              <a:rPr lang="en-US" b="true" sz="2100">
                <a:solidFill>
                  <a:srgbClr val="14110E"/>
                </a:solidFill>
                <a:latin typeface="Open Sans Medium"/>
                <a:ea typeface="Open Sans Medium"/>
                <a:cs typeface="Open Sans Medium"/>
                <a:sym typeface="Open Sans Medium"/>
              </a:rPr>
              <a:t>Hash tables for all rows may exceed GPU memory</a:t>
            </a:r>
          </a:p>
          <a:p>
            <a:pPr algn="ctr">
              <a:lnSpc>
                <a:spcPts val="2940"/>
              </a:lnSpc>
              <a:spcBef>
                <a:spcPct val="0"/>
              </a:spcBef>
            </a:pPr>
            <a:r>
              <a:rPr lang="en-US" b="true" sz="2100">
                <a:solidFill>
                  <a:srgbClr val="14110E"/>
                </a:solidFill>
                <a:latin typeface="Open Sans Medium"/>
                <a:ea typeface="Open Sans Medium"/>
                <a:cs typeface="Open Sans Medium"/>
                <a:sym typeface="Open Sans Medium"/>
              </a:rPr>
              <a:t>Rows are processed in batches sized to fit within a memory budget (8 GB)</a:t>
            </a:r>
          </a:p>
          <a:p>
            <a:pPr algn="ctr">
              <a:lnSpc>
                <a:spcPts val="2940"/>
              </a:lnSpc>
              <a:spcBef>
                <a:spcPct val="0"/>
              </a:spcBef>
            </a:pPr>
            <a:r>
              <a:rPr lang="en-US" b="true" sz="2100">
                <a:solidFill>
                  <a:srgbClr val="14110E"/>
                </a:solidFill>
                <a:latin typeface="Open Sans Medium"/>
                <a:ea typeface="Open Sans Medium"/>
                <a:cs typeface="Open Sans Medium"/>
                <a:sym typeface="Open Sans Medium"/>
              </a:rPr>
              <a:t>Each batch allocates/frees its own hash tables; results accumulate on CPU</a:t>
            </a:r>
          </a:p>
        </p:txBody>
      </p:sp>
      <p:sp>
        <p:nvSpPr>
          <p:cNvPr name="TextBox 47" id="47"/>
          <p:cNvSpPr txBox="true"/>
          <p:nvPr/>
        </p:nvSpPr>
        <p:spPr>
          <a:xfrm rot="0">
            <a:off x="4450066" y="7364476"/>
            <a:ext cx="9930514" cy="719142"/>
          </a:xfrm>
          <a:prstGeom prst="rect">
            <a:avLst/>
          </a:prstGeom>
        </p:spPr>
        <p:txBody>
          <a:bodyPr anchor="t" rtlCol="false" tIns="0" lIns="0" bIns="0" rIns="0">
            <a:spAutoFit/>
          </a:bodyPr>
          <a:lstStyle/>
          <a:p>
            <a:pPr algn="ctr">
              <a:lnSpc>
                <a:spcPts val="5959"/>
              </a:lnSpc>
              <a:spcBef>
                <a:spcPct val="0"/>
              </a:spcBef>
            </a:pPr>
            <a:r>
              <a:rPr lang="en-US" b="true" sz="4257">
                <a:solidFill>
                  <a:srgbClr val="191616"/>
                </a:solidFill>
                <a:latin typeface="Open Sans Bold"/>
                <a:ea typeface="Open Sans Bold"/>
                <a:cs typeface="Open Sans Bold"/>
                <a:sym typeface="Open Sans Bold"/>
              </a:rPr>
              <a:t>Challange =&gt; Out of Memory Error</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0" y="821440"/>
            <a:ext cx="3517636" cy="732655"/>
            <a:chOff x="0" y="0"/>
            <a:chExt cx="926456" cy="192963"/>
          </a:xfrm>
        </p:grpSpPr>
        <p:sp>
          <p:nvSpPr>
            <p:cNvPr name="Freeform 6" id="6"/>
            <p:cNvSpPr/>
            <p:nvPr/>
          </p:nvSpPr>
          <p:spPr>
            <a:xfrm flipH="false" flipV="false" rot="0">
              <a:off x="0" y="0"/>
              <a:ext cx="926456" cy="192963"/>
            </a:xfrm>
            <a:custGeom>
              <a:avLst/>
              <a:gdLst/>
              <a:ahLst/>
              <a:cxnLst/>
              <a:rect r="r" b="b" t="t" l="l"/>
              <a:pathLst>
                <a:path h="192963" w="926456">
                  <a:moveTo>
                    <a:pt x="0" y="0"/>
                  </a:moveTo>
                  <a:lnTo>
                    <a:pt x="926456" y="0"/>
                  </a:lnTo>
                  <a:lnTo>
                    <a:pt x="926456" y="192963"/>
                  </a:lnTo>
                  <a:lnTo>
                    <a:pt x="0" y="192963"/>
                  </a:lnTo>
                  <a:close/>
                </a:path>
              </a:pathLst>
            </a:custGeom>
            <a:solidFill>
              <a:srgbClr val="C2410A"/>
            </a:solidFill>
          </p:spPr>
        </p:sp>
        <p:sp>
          <p:nvSpPr>
            <p:cNvPr name="TextBox 7" id="7"/>
            <p:cNvSpPr txBox="true"/>
            <p:nvPr/>
          </p:nvSpPr>
          <p:spPr>
            <a:xfrm>
              <a:off x="0" y="-38100"/>
              <a:ext cx="926456" cy="231063"/>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705313" y="916305"/>
            <a:ext cx="2812323" cy="495301"/>
          </a:xfrm>
          <a:prstGeom prst="rect">
            <a:avLst/>
          </a:prstGeom>
        </p:spPr>
        <p:txBody>
          <a:bodyPr anchor="t" rtlCol="false" tIns="0" lIns="0" bIns="0" rIns="0">
            <a:spAutoFit/>
          </a:bodyPr>
          <a:lstStyle/>
          <a:p>
            <a:pPr algn="l">
              <a:lnSpc>
                <a:spcPts val="4199"/>
              </a:lnSpc>
              <a:spcBef>
                <a:spcPct val="0"/>
              </a:spcBef>
            </a:pPr>
            <a:r>
              <a:rPr lang="en-US" b="true" sz="2999">
                <a:solidFill>
                  <a:srgbClr val="FFFFFF"/>
                </a:solidFill>
                <a:latin typeface="Open Sans Medium"/>
                <a:ea typeface="Open Sans Medium"/>
                <a:cs typeface="Open Sans Medium"/>
                <a:sym typeface="Open Sans Medium"/>
              </a:rPr>
              <a:t>Challenges</a:t>
            </a:r>
          </a:p>
        </p:txBody>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05</a:t>
            </a:r>
          </a:p>
        </p:txBody>
      </p:sp>
      <p:sp>
        <p:nvSpPr>
          <p:cNvPr name="TextBox 10" id="10"/>
          <p:cNvSpPr txBox="true"/>
          <p:nvPr/>
        </p:nvSpPr>
        <p:spPr>
          <a:xfrm rot="0">
            <a:off x="3831344" y="1403985"/>
            <a:ext cx="11737675" cy="1428750"/>
          </a:xfrm>
          <a:prstGeom prst="rect">
            <a:avLst/>
          </a:prstGeom>
        </p:spPr>
        <p:txBody>
          <a:bodyPr anchor="t" rtlCol="false" tIns="0" lIns="0" bIns="0" rIns="0">
            <a:spAutoFit/>
          </a:bodyPr>
          <a:lstStyle/>
          <a:p>
            <a:pPr algn="ctr">
              <a:lnSpc>
                <a:spcPts val="5640"/>
              </a:lnSpc>
            </a:pPr>
            <a:r>
              <a:rPr lang="en-US" sz="4700" b="true">
                <a:solidFill>
                  <a:srgbClr val="000000"/>
                </a:solidFill>
                <a:latin typeface="Open Sauce Bold"/>
                <a:ea typeface="Open Sauce Bold"/>
                <a:cs typeface="Open Sauce Bold"/>
                <a:sym typeface="Open Sauce Bold"/>
              </a:rPr>
              <a:t>Challenges in Efficient SpGEMM on GPUs</a:t>
            </a:r>
          </a:p>
        </p:txBody>
      </p:sp>
      <p:grpSp>
        <p:nvGrpSpPr>
          <p:cNvPr name="Group 11" id="11"/>
          <p:cNvGrpSpPr/>
          <p:nvPr/>
        </p:nvGrpSpPr>
        <p:grpSpPr>
          <a:xfrm rot="0">
            <a:off x="2260790" y="3809801"/>
            <a:ext cx="740055" cy="740055"/>
            <a:chOff x="0" y="0"/>
            <a:chExt cx="194912" cy="194912"/>
          </a:xfrm>
        </p:grpSpPr>
        <p:sp>
          <p:nvSpPr>
            <p:cNvPr name="Freeform 12" id="12"/>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3" id="13"/>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1038408" y="3951795"/>
            <a:ext cx="740055" cy="740055"/>
            <a:chOff x="0" y="0"/>
            <a:chExt cx="194912" cy="194912"/>
          </a:xfrm>
        </p:grpSpPr>
        <p:sp>
          <p:nvSpPr>
            <p:cNvPr name="Freeform 15" id="15"/>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6" id="16"/>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17" id="17"/>
          <p:cNvGrpSpPr/>
          <p:nvPr/>
        </p:nvGrpSpPr>
        <p:grpSpPr>
          <a:xfrm rot="0">
            <a:off x="2361022" y="6811620"/>
            <a:ext cx="740055" cy="740055"/>
            <a:chOff x="0" y="0"/>
            <a:chExt cx="194912" cy="194912"/>
          </a:xfrm>
        </p:grpSpPr>
        <p:sp>
          <p:nvSpPr>
            <p:cNvPr name="Freeform 18" id="18"/>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19" id="19"/>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20" id="20"/>
          <p:cNvGrpSpPr/>
          <p:nvPr/>
        </p:nvGrpSpPr>
        <p:grpSpPr>
          <a:xfrm rot="0">
            <a:off x="10999778" y="6791752"/>
            <a:ext cx="740055" cy="740055"/>
            <a:chOff x="0" y="0"/>
            <a:chExt cx="194912" cy="194912"/>
          </a:xfrm>
        </p:grpSpPr>
        <p:sp>
          <p:nvSpPr>
            <p:cNvPr name="Freeform 21" id="21"/>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22" id="22"/>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sp>
        <p:nvSpPr>
          <p:cNvPr name="TextBox 23" id="23"/>
          <p:cNvSpPr txBox="true"/>
          <p:nvPr/>
        </p:nvSpPr>
        <p:spPr>
          <a:xfrm rot="0">
            <a:off x="2334772" y="3984735"/>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1</a:t>
            </a:r>
          </a:p>
        </p:txBody>
      </p:sp>
      <p:sp>
        <p:nvSpPr>
          <p:cNvPr name="TextBox 24" id="24"/>
          <p:cNvSpPr txBox="true"/>
          <p:nvPr/>
        </p:nvSpPr>
        <p:spPr>
          <a:xfrm rot="0">
            <a:off x="2260790" y="4845131"/>
            <a:ext cx="3552378" cy="72771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Irregular computation patterns</a:t>
            </a:r>
          </a:p>
        </p:txBody>
      </p:sp>
      <p:sp>
        <p:nvSpPr>
          <p:cNvPr name="TextBox 25" id="25"/>
          <p:cNvSpPr txBox="true"/>
          <p:nvPr/>
        </p:nvSpPr>
        <p:spPr>
          <a:xfrm rot="0">
            <a:off x="11112390" y="4126729"/>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2</a:t>
            </a:r>
          </a:p>
        </p:txBody>
      </p:sp>
      <p:sp>
        <p:nvSpPr>
          <p:cNvPr name="TextBox 26" id="26"/>
          <p:cNvSpPr txBox="true"/>
          <p:nvPr/>
        </p:nvSpPr>
        <p:spPr>
          <a:xfrm rot="0">
            <a:off x="10999778" y="4985051"/>
            <a:ext cx="3752844" cy="72771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Unbalanced workload across threads</a:t>
            </a:r>
          </a:p>
        </p:txBody>
      </p:sp>
      <p:sp>
        <p:nvSpPr>
          <p:cNvPr name="TextBox 27" id="27"/>
          <p:cNvSpPr txBox="true"/>
          <p:nvPr/>
        </p:nvSpPr>
        <p:spPr>
          <a:xfrm rot="0">
            <a:off x="2435004" y="6984481"/>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3</a:t>
            </a:r>
          </a:p>
        </p:txBody>
      </p:sp>
      <p:sp>
        <p:nvSpPr>
          <p:cNvPr name="TextBox 28" id="28"/>
          <p:cNvSpPr txBox="true"/>
          <p:nvPr/>
        </p:nvSpPr>
        <p:spPr>
          <a:xfrm rot="0">
            <a:off x="2260790" y="7846951"/>
            <a:ext cx="3028612" cy="72771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High memory usage for intermediate results</a:t>
            </a:r>
          </a:p>
        </p:txBody>
      </p:sp>
      <p:sp>
        <p:nvSpPr>
          <p:cNvPr name="TextBox 29" id="29"/>
          <p:cNvSpPr txBox="true"/>
          <p:nvPr/>
        </p:nvSpPr>
        <p:spPr>
          <a:xfrm rot="0">
            <a:off x="11073760" y="6964612"/>
            <a:ext cx="59209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Open Sans Medium"/>
                <a:ea typeface="Open Sans Medium"/>
                <a:cs typeface="Open Sans Medium"/>
                <a:sym typeface="Open Sans Medium"/>
              </a:rPr>
              <a:t>4</a:t>
            </a:r>
          </a:p>
        </p:txBody>
      </p:sp>
      <p:sp>
        <p:nvSpPr>
          <p:cNvPr name="TextBox 30" id="30"/>
          <p:cNvSpPr txBox="true"/>
          <p:nvPr/>
        </p:nvSpPr>
        <p:spPr>
          <a:xfrm rot="0">
            <a:off x="10999778" y="7827082"/>
            <a:ext cx="3746220" cy="72771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Poor data locality (inefficient memory access)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070" y="821440"/>
            <a:ext cx="18077860" cy="9423084"/>
          </a:xfrm>
          <a:custGeom>
            <a:avLst/>
            <a:gdLst/>
            <a:ahLst/>
            <a:cxnLst/>
            <a:rect r="r" b="b" t="t" l="l"/>
            <a:pathLst>
              <a:path h="9423084" w="18077860">
                <a:moveTo>
                  <a:pt x="0" y="0"/>
                </a:moveTo>
                <a:lnTo>
                  <a:pt x="18077860" y="0"/>
                </a:lnTo>
                <a:lnTo>
                  <a:pt x="18077860" y="9423085"/>
                </a:lnTo>
                <a:lnTo>
                  <a:pt x="0" y="9423085"/>
                </a:lnTo>
                <a:lnTo>
                  <a:pt x="0" y="0"/>
                </a:lnTo>
                <a:close/>
              </a:path>
            </a:pathLst>
          </a:custGeom>
          <a:blipFill>
            <a:blip r:embed="rId2"/>
            <a:stretch>
              <a:fillRect l="0" t="0" r="0" b="0"/>
            </a:stretch>
          </a:blipFill>
        </p:spPr>
      </p:sp>
      <p:grpSp>
        <p:nvGrpSpPr>
          <p:cNvPr name="Group 3" id="3"/>
          <p:cNvGrpSpPr/>
          <p:nvPr/>
        </p:nvGrpSpPr>
        <p:grpSpPr>
          <a:xfrm rot="0">
            <a:off x="15882727" y="296045"/>
            <a:ext cx="2405273" cy="732655"/>
            <a:chOff x="0" y="0"/>
            <a:chExt cx="633488" cy="192963"/>
          </a:xfrm>
        </p:grpSpPr>
        <p:sp>
          <p:nvSpPr>
            <p:cNvPr name="Freeform 4" id="4"/>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5" id="5"/>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05065" y="214765"/>
            <a:ext cx="4048200" cy="732655"/>
            <a:chOff x="0" y="0"/>
            <a:chExt cx="1066193" cy="192963"/>
          </a:xfrm>
        </p:grpSpPr>
        <p:sp>
          <p:nvSpPr>
            <p:cNvPr name="Freeform 7" id="7"/>
            <p:cNvSpPr/>
            <p:nvPr/>
          </p:nvSpPr>
          <p:spPr>
            <a:xfrm flipH="false" flipV="false" rot="0">
              <a:off x="0" y="0"/>
              <a:ext cx="1066193" cy="192963"/>
            </a:xfrm>
            <a:custGeom>
              <a:avLst/>
              <a:gdLst/>
              <a:ahLst/>
              <a:cxnLst/>
              <a:rect r="r" b="b" t="t" l="l"/>
              <a:pathLst>
                <a:path h="192963" w="1066193">
                  <a:moveTo>
                    <a:pt x="0" y="0"/>
                  </a:moveTo>
                  <a:lnTo>
                    <a:pt x="1066193" y="0"/>
                  </a:lnTo>
                  <a:lnTo>
                    <a:pt x="1066193" y="192963"/>
                  </a:lnTo>
                  <a:lnTo>
                    <a:pt x="0" y="192963"/>
                  </a:lnTo>
                  <a:close/>
                </a:path>
              </a:pathLst>
            </a:custGeom>
            <a:solidFill>
              <a:srgbClr val="C2410A"/>
            </a:solidFill>
          </p:spPr>
        </p:sp>
        <p:sp>
          <p:nvSpPr>
            <p:cNvPr name="TextBox 8" id="8"/>
            <p:cNvSpPr txBox="true"/>
            <p:nvPr/>
          </p:nvSpPr>
          <p:spPr>
            <a:xfrm>
              <a:off x="0" y="-38100"/>
              <a:ext cx="1066193" cy="231063"/>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512874" y="283594"/>
            <a:ext cx="2812323"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Open Sans Medium"/>
                <a:ea typeface="Open Sans Medium"/>
                <a:cs typeface="Open Sans Medium"/>
                <a:sym typeface="Open Sans Medium"/>
              </a:rPr>
              <a:t>TileSpGEMM</a:t>
            </a:r>
          </a:p>
        </p:txBody>
      </p:sp>
      <p:sp>
        <p:nvSpPr>
          <p:cNvPr name="TextBox 10" id="10"/>
          <p:cNvSpPr txBox="true"/>
          <p:nvPr/>
        </p:nvSpPr>
        <p:spPr>
          <a:xfrm rot="0">
            <a:off x="16089057" y="465205"/>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06</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10561" y="426855"/>
            <a:ext cx="4048200" cy="732655"/>
            <a:chOff x="0" y="0"/>
            <a:chExt cx="1066193" cy="192963"/>
          </a:xfrm>
        </p:grpSpPr>
        <p:sp>
          <p:nvSpPr>
            <p:cNvPr name="Freeform 6" id="6"/>
            <p:cNvSpPr/>
            <p:nvPr/>
          </p:nvSpPr>
          <p:spPr>
            <a:xfrm flipH="false" flipV="false" rot="0">
              <a:off x="0" y="0"/>
              <a:ext cx="1066193" cy="192963"/>
            </a:xfrm>
            <a:custGeom>
              <a:avLst/>
              <a:gdLst/>
              <a:ahLst/>
              <a:cxnLst/>
              <a:rect r="r" b="b" t="t" l="l"/>
              <a:pathLst>
                <a:path h="192963" w="1066193">
                  <a:moveTo>
                    <a:pt x="0" y="0"/>
                  </a:moveTo>
                  <a:lnTo>
                    <a:pt x="1066193" y="0"/>
                  </a:lnTo>
                  <a:lnTo>
                    <a:pt x="1066193" y="192963"/>
                  </a:lnTo>
                  <a:lnTo>
                    <a:pt x="0" y="192963"/>
                  </a:lnTo>
                  <a:close/>
                </a:path>
              </a:pathLst>
            </a:custGeom>
            <a:solidFill>
              <a:srgbClr val="C2410A"/>
            </a:solidFill>
          </p:spPr>
        </p:sp>
        <p:sp>
          <p:nvSpPr>
            <p:cNvPr name="TextBox 7" id="7"/>
            <p:cNvSpPr txBox="true"/>
            <p:nvPr/>
          </p:nvSpPr>
          <p:spPr>
            <a:xfrm>
              <a:off x="0" y="-38100"/>
              <a:ext cx="1066193" cy="231063"/>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736573" y="1159510"/>
            <a:ext cx="15146154" cy="8955164"/>
          </a:xfrm>
          <a:custGeom>
            <a:avLst/>
            <a:gdLst/>
            <a:ahLst/>
            <a:cxnLst/>
            <a:rect r="r" b="b" t="t" l="l"/>
            <a:pathLst>
              <a:path h="8955164" w="15146154">
                <a:moveTo>
                  <a:pt x="0" y="0"/>
                </a:moveTo>
                <a:lnTo>
                  <a:pt x="15146154" y="0"/>
                </a:lnTo>
                <a:lnTo>
                  <a:pt x="15146154" y="8955164"/>
                </a:lnTo>
                <a:lnTo>
                  <a:pt x="0" y="8955164"/>
                </a:lnTo>
                <a:lnTo>
                  <a:pt x="0" y="0"/>
                </a:lnTo>
                <a:close/>
              </a:path>
            </a:pathLst>
          </a:custGeom>
          <a:blipFill>
            <a:blip r:embed="rId2"/>
            <a:stretch>
              <a:fillRect l="0" t="0" r="0" b="0"/>
            </a:stretch>
          </a:blipFill>
        </p:spPr>
      </p:sp>
      <p:sp>
        <p:nvSpPr>
          <p:cNvPr name="TextBox 9" id="9"/>
          <p:cNvSpPr txBox="true"/>
          <p:nvPr/>
        </p:nvSpPr>
        <p:spPr>
          <a:xfrm rot="0">
            <a:off x="365495" y="606425"/>
            <a:ext cx="3416576" cy="422275"/>
          </a:xfrm>
          <a:prstGeom prst="rect">
            <a:avLst/>
          </a:prstGeom>
        </p:spPr>
        <p:txBody>
          <a:bodyPr anchor="t" rtlCol="false" tIns="0" lIns="0" bIns="0" rIns="0">
            <a:spAutoFit/>
          </a:bodyPr>
          <a:lstStyle/>
          <a:p>
            <a:pPr algn="l">
              <a:lnSpc>
                <a:spcPts val="3499"/>
              </a:lnSpc>
              <a:spcBef>
                <a:spcPct val="0"/>
              </a:spcBef>
            </a:pPr>
            <a:r>
              <a:rPr lang="en-US" b="true" sz="2499">
                <a:solidFill>
                  <a:srgbClr val="FFFFFF"/>
                </a:solidFill>
                <a:latin typeface="Open Sans Medium"/>
                <a:ea typeface="Open Sans Medium"/>
                <a:cs typeface="Open Sans Medium"/>
                <a:sym typeface="Open Sans Medium"/>
              </a:rPr>
              <a:t>Algorithm Description</a:t>
            </a:r>
          </a:p>
        </p:txBody>
      </p:sp>
      <p:sp>
        <p:nvSpPr>
          <p:cNvPr name="TextBox 10" id="10"/>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455113"/>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0" y="0"/>
            <a:ext cx="9039701" cy="10287000"/>
          </a:xfrm>
          <a:custGeom>
            <a:avLst/>
            <a:gdLst/>
            <a:ahLst/>
            <a:cxnLst/>
            <a:rect r="r" b="b" t="t" l="l"/>
            <a:pathLst>
              <a:path h="10287000" w="9039701">
                <a:moveTo>
                  <a:pt x="0" y="0"/>
                </a:moveTo>
                <a:lnTo>
                  <a:pt x="9039701" y="0"/>
                </a:lnTo>
                <a:lnTo>
                  <a:pt x="9039701" y="10287000"/>
                </a:lnTo>
                <a:lnTo>
                  <a:pt x="0" y="10287000"/>
                </a:lnTo>
                <a:lnTo>
                  <a:pt x="0" y="0"/>
                </a:lnTo>
                <a:close/>
              </a:path>
            </a:pathLst>
          </a:custGeom>
          <a:blipFill>
            <a:blip r:embed="rId2"/>
            <a:stretch>
              <a:fillRect l="0" t="0" r="0" b="0"/>
            </a:stretch>
          </a:blipFill>
        </p:spPr>
      </p:sp>
      <p:sp>
        <p:nvSpPr>
          <p:cNvPr name="TextBox 6" id="6"/>
          <p:cNvSpPr txBox="true"/>
          <p:nvPr/>
        </p:nvSpPr>
        <p:spPr>
          <a:xfrm rot="0">
            <a:off x="16177485" y="624273"/>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08</a:t>
            </a:r>
          </a:p>
        </p:txBody>
      </p:sp>
      <p:sp>
        <p:nvSpPr>
          <p:cNvPr name="TextBox 7" id="7"/>
          <p:cNvSpPr txBox="true"/>
          <p:nvPr/>
        </p:nvSpPr>
        <p:spPr>
          <a:xfrm rot="0">
            <a:off x="9698216" y="2348794"/>
            <a:ext cx="7002408" cy="5819887"/>
          </a:xfrm>
          <a:prstGeom prst="rect">
            <a:avLst/>
          </a:prstGeom>
        </p:spPr>
        <p:txBody>
          <a:bodyPr anchor="t" rtlCol="false" tIns="0" lIns="0" bIns="0" rIns="0">
            <a:spAutoFit/>
          </a:bodyPr>
          <a:lstStyle/>
          <a:p>
            <a:pPr algn="ctr">
              <a:lnSpc>
                <a:spcPts val="5141"/>
              </a:lnSpc>
              <a:spcBef>
                <a:spcPct val="0"/>
              </a:spcBef>
            </a:pPr>
            <a:r>
              <a:rPr lang="en-US" b="true" sz="3672">
                <a:solidFill>
                  <a:srgbClr val="000000"/>
                </a:solidFill>
                <a:latin typeface="Open Sans Medium"/>
                <a:ea typeface="Open Sans Medium"/>
                <a:cs typeface="Open Sans Medium"/>
                <a:sym typeface="Open Sans Medium"/>
              </a:rPr>
              <a:t>All the memory requirements are well bounded to no larger than 256 nonzeros and can be completed using on-chip memory. Therefore, we do not allocate any intermediate arrays in global memory, which helps save overall space overhead.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438189" y="0"/>
            <a:ext cx="12939623" cy="10287000"/>
          </a:xfrm>
          <a:custGeom>
            <a:avLst/>
            <a:gdLst/>
            <a:ahLst/>
            <a:cxnLst/>
            <a:rect r="r" b="b" t="t" l="l"/>
            <a:pathLst>
              <a:path h="10287000" w="12939623">
                <a:moveTo>
                  <a:pt x="0" y="0"/>
                </a:moveTo>
                <a:lnTo>
                  <a:pt x="12939623" y="0"/>
                </a:lnTo>
                <a:lnTo>
                  <a:pt x="12939623" y="10287000"/>
                </a:lnTo>
                <a:lnTo>
                  <a:pt x="0" y="10287000"/>
                </a:lnTo>
                <a:lnTo>
                  <a:pt x="0" y="0"/>
                </a:lnTo>
                <a:close/>
              </a:path>
            </a:pathLst>
          </a:custGeom>
          <a:blipFill>
            <a:blip r:embed="rId2"/>
            <a:stretch>
              <a:fillRect l="0" t="0" r="0" b="0"/>
            </a:stretch>
          </a:blipFill>
        </p:spPr>
      </p:sp>
      <p:sp>
        <p:nvSpPr>
          <p:cNvPr name="TextBox 6" id="6"/>
          <p:cNvSpPr txBox="true"/>
          <p:nvPr/>
        </p:nvSpPr>
        <p:spPr>
          <a:xfrm rot="0">
            <a:off x="1590177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9</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590177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10</a:t>
            </a:r>
          </a:p>
        </p:txBody>
      </p:sp>
      <p:sp>
        <p:nvSpPr>
          <p:cNvPr name="TextBox 6" id="6"/>
          <p:cNvSpPr txBox="true"/>
          <p:nvPr/>
        </p:nvSpPr>
        <p:spPr>
          <a:xfrm rot="0">
            <a:off x="2032522" y="1270635"/>
            <a:ext cx="13143418" cy="6013440"/>
          </a:xfrm>
          <a:prstGeom prst="rect">
            <a:avLst/>
          </a:prstGeom>
        </p:spPr>
        <p:txBody>
          <a:bodyPr anchor="t" rtlCol="false" tIns="0" lIns="0" bIns="0" rIns="0">
            <a:spAutoFit/>
          </a:bodyPr>
          <a:lstStyle/>
          <a:p>
            <a:pPr algn="ctr">
              <a:lnSpc>
                <a:spcPts val="5981"/>
              </a:lnSpc>
              <a:spcBef>
                <a:spcPct val="0"/>
              </a:spcBef>
            </a:pPr>
            <a:r>
              <a:rPr lang="en-US" b="true" sz="4272">
                <a:solidFill>
                  <a:srgbClr val="000000"/>
                </a:solidFill>
                <a:latin typeface="Open Sans Medium"/>
                <a:ea typeface="Open Sans Medium"/>
                <a:cs typeface="Open Sans Medium"/>
                <a:sym typeface="Open Sans Medium"/>
              </a:rPr>
              <a:t>In our experiments, we observed that the merging primitive tends to be slower compared to the binary search approach for set intersection. Specifically, when dealing with arrays of different sizes, we assign one CUDA thread to perform a binary search for each element of the shorter array within the longer array (as described in lines 6-18 of Algorithm 2) to identify the matching tiles.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455113"/>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6177485" y="624273"/>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11</a:t>
            </a:r>
          </a:p>
        </p:txBody>
      </p:sp>
      <p:sp>
        <p:nvSpPr>
          <p:cNvPr name="TextBox 6" id="6"/>
          <p:cNvSpPr txBox="true"/>
          <p:nvPr/>
        </p:nvSpPr>
        <p:spPr>
          <a:xfrm rot="0">
            <a:off x="2296668" y="1558908"/>
            <a:ext cx="12460486" cy="7817604"/>
          </a:xfrm>
          <a:prstGeom prst="rect">
            <a:avLst/>
          </a:prstGeom>
        </p:spPr>
        <p:txBody>
          <a:bodyPr anchor="t" rtlCol="false" tIns="0" lIns="0" bIns="0" rIns="0">
            <a:spAutoFit/>
          </a:bodyPr>
          <a:lstStyle/>
          <a:p>
            <a:pPr algn="ctr">
              <a:lnSpc>
                <a:spcPts val="3808"/>
              </a:lnSpc>
              <a:spcBef>
                <a:spcPct val="0"/>
              </a:spcBef>
            </a:pPr>
          </a:p>
          <a:p>
            <a:pPr algn="l">
              <a:lnSpc>
                <a:spcPts val="3808"/>
              </a:lnSpc>
              <a:spcBef>
                <a:spcPct val="0"/>
              </a:spcBef>
            </a:pPr>
            <a:r>
              <a:rPr lang="en-US" b="true" sz="2720">
                <a:solidFill>
                  <a:srgbClr val="000000"/>
                </a:solidFill>
                <a:latin typeface="Open Sans Bold"/>
                <a:ea typeface="Open Sans Bold"/>
                <a:cs typeface="Open Sans Bold"/>
                <a:sym typeface="Open Sans Bold"/>
              </a:rPr>
              <a:t>The job: </a:t>
            </a:r>
            <a:r>
              <a:rPr lang="en-US" b="true" sz="2720">
                <a:solidFill>
                  <a:srgbClr val="000000"/>
                </a:solidFill>
                <a:latin typeface="Open Sans Medium"/>
                <a:ea typeface="Open Sans Medium"/>
                <a:cs typeface="Open Sans Medium"/>
                <a:sym typeface="Open Sans Medium"/>
              </a:rPr>
              <a:t>Compute actual float values into positions identified by the mask</a:t>
            </a:r>
          </a:p>
          <a:p>
            <a:pPr algn="ctr">
              <a:lnSpc>
                <a:spcPts val="3808"/>
              </a:lnSpc>
              <a:spcBef>
                <a:spcPct val="0"/>
              </a:spcBef>
            </a:pPr>
          </a:p>
          <a:p>
            <a:pPr algn="l">
              <a:lnSpc>
                <a:spcPts val="3808"/>
              </a:lnSpc>
              <a:spcBef>
                <a:spcPct val="0"/>
              </a:spcBef>
            </a:pPr>
            <a:r>
              <a:rPr lang="en-US" b="true" sz="2720">
                <a:solidFill>
                  <a:srgbClr val="000000"/>
                </a:solidFill>
                <a:latin typeface="Open Sans Medium"/>
                <a:ea typeface="Open Sans Medium"/>
                <a:cs typeface="Open Sans Medium"/>
                <a:sym typeface="Open Sans Medium"/>
              </a:rPr>
              <a:t>Two strategies based on tile density:</a:t>
            </a:r>
          </a:p>
          <a:p>
            <a:pPr algn="ctr">
              <a:lnSpc>
                <a:spcPts val="3808"/>
              </a:lnSpc>
              <a:spcBef>
                <a:spcPct val="0"/>
              </a:spcBef>
            </a:pPr>
          </a:p>
          <a:p>
            <a:pPr algn="l">
              <a:lnSpc>
                <a:spcPts val="4228"/>
              </a:lnSpc>
              <a:spcBef>
                <a:spcPct val="0"/>
              </a:spcBef>
            </a:pPr>
            <a:r>
              <a:rPr lang="en-US" b="true" sz="3020">
                <a:solidFill>
                  <a:srgbClr val="000000"/>
                </a:solidFill>
                <a:latin typeface="Open Sans Bold"/>
                <a:ea typeface="Open Sans Bold"/>
                <a:cs typeface="Open Sans Bold"/>
                <a:sym typeface="Open Sans Bold"/>
              </a:rPr>
              <a:t>Sparse Accumulator (nnz ≤ 192, tile &lt; 75% full)</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Mask from Step 2 gives exact column positions upfront</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AtomicAdd directly into those known slots — no scanning</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Zero wasted work — only nonzero positions touched</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Fast because index lookups are cheap at low density</a:t>
            </a:r>
          </a:p>
          <a:p>
            <a:pPr algn="ctr">
              <a:lnSpc>
                <a:spcPts val="4228"/>
              </a:lnSpc>
            </a:pPr>
          </a:p>
          <a:p>
            <a:pPr algn="l">
              <a:lnSpc>
                <a:spcPts val="4508"/>
              </a:lnSpc>
              <a:spcBef>
                <a:spcPct val="0"/>
              </a:spcBef>
            </a:pPr>
            <a:r>
              <a:rPr lang="en-US" b="true" sz="3220">
                <a:solidFill>
                  <a:srgbClr val="000000"/>
                </a:solidFill>
                <a:latin typeface="Open Sans Bold"/>
                <a:ea typeface="Open Sans Bold"/>
                <a:cs typeface="Open Sans Bold"/>
                <a:sym typeface="Open Sans Bold"/>
              </a:rPr>
              <a:t>Dense Accumulator (nnz &gt; 192, tile ≥ 75% full) :</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Allocate a flat 256-float scratch array in shared memory</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Address = row × 16 + col — pure arithmetic, no lookup</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After all pairs processed, compress nonzeros → final val[]</a:t>
            </a:r>
          </a:p>
          <a:p>
            <a:pPr algn="l" marL="587313" indent="-293657" lvl="1">
              <a:lnSpc>
                <a:spcPts val="3808"/>
              </a:lnSpc>
              <a:buFont typeface="Arial"/>
              <a:buChar char="•"/>
            </a:pPr>
            <a:r>
              <a:rPr lang="en-US" b="true" sz="2720">
                <a:solidFill>
                  <a:srgbClr val="000000"/>
                </a:solidFill>
                <a:latin typeface="Open Sans Medium"/>
                <a:ea typeface="Open Sans Medium"/>
                <a:cs typeface="Open Sans Medium"/>
                <a:sym typeface="Open Sans Medium"/>
              </a:rPr>
              <a:t>Fast because at high density, index overhead outweighs the wasted slots</a:t>
            </a:r>
          </a:p>
        </p:txBody>
      </p:sp>
      <p:grpSp>
        <p:nvGrpSpPr>
          <p:cNvPr name="Group 7" id="7"/>
          <p:cNvGrpSpPr/>
          <p:nvPr/>
        </p:nvGrpSpPr>
        <p:grpSpPr>
          <a:xfrm rot="0">
            <a:off x="0" y="821440"/>
            <a:ext cx="9607093" cy="700220"/>
            <a:chOff x="0" y="0"/>
            <a:chExt cx="2530263" cy="184420"/>
          </a:xfrm>
        </p:grpSpPr>
        <p:sp>
          <p:nvSpPr>
            <p:cNvPr name="Freeform 8" id="8"/>
            <p:cNvSpPr/>
            <p:nvPr/>
          </p:nvSpPr>
          <p:spPr>
            <a:xfrm flipH="false" flipV="false" rot="0">
              <a:off x="0" y="0"/>
              <a:ext cx="2530263" cy="184420"/>
            </a:xfrm>
            <a:custGeom>
              <a:avLst/>
              <a:gdLst/>
              <a:ahLst/>
              <a:cxnLst/>
              <a:rect r="r" b="b" t="t" l="l"/>
              <a:pathLst>
                <a:path h="184420" w="2530263">
                  <a:moveTo>
                    <a:pt x="0" y="0"/>
                  </a:moveTo>
                  <a:lnTo>
                    <a:pt x="2530263" y="0"/>
                  </a:lnTo>
                  <a:lnTo>
                    <a:pt x="2530263" y="184420"/>
                  </a:lnTo>
                  <a:lnTo>
                    <a:pt x="0" y="184420"/>
                  </a:lnTo>
                  <a:close/>
                </a:path>
              </a:pathLst>
            </a:custGeom>
            <a:solidFill>
              <a:srgbClr val="C2410A"/>
            </a:solidFill>
          </p:spPr>
        </p:sp>
        <p:sp>
          <p:nvSpPr>
            <p:cNvPr name="TextBox 9" id="9"/>
            <p:cNvSpPr txBox="true"/>
            <p:nvPr/>
          </p:nvSpPr>
          <p:spPr>
            <a:xfrm>
              <a:off x="0" y="-38100"/>
              <a:ext cx="2530263" cy="222520"/>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352657" y="900087"/>
            <a:ext cx="8901779" cy="495301"/>
          </a:xfrm>
          <a:prstGeom prst="rect">
            <a:avLst/>
          </a:prstGeom>
        </p:spPr>
        <p:txBody>
          <a:bodyPr anchor="t" rtlCol="false" tIns="0" lIns="0" bIns="0" rIns="0">
            <a:spAutoFit/>
          </a:bodyPr>
          <a:lstStyle/>
          <a:p>
            <a:pPr algn="l">
              <a:lnSpc>
                <a:spcPts val="4199"/>
              </a:lnSpc>
              <a:spcBef>
                <a:spcPct val="0"/>
              </a:spcBef>
            </a:pPr>
            <a:r>
              <a:rPr lang="en-US" b="true" sz="2999">
                <a:solidFill>
                  <a:srgbClr val="FFFFFF"/>
                </a:solidFill>
                <a:latin typeface="Open Sans Medium"/>
                <a:ea typeface="Open Sans Medium"/>
                <a:cs typeface="Open Sans Medium"/>
                <a:sym typeface="Open Sans Medium"/>
              </a:rPr>
              <a:t>Step 3 — Numeric Phase (Adaptive Accumulator)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12</a:t>
            </a:r>
          </a:p>
        </p:txBody>
      </p:sp>
      <p:grpSp>
        <p:nvGrpSpPr>
          <p:cNvPr name="Group 6" id="6"/>
          <p:cNvGrpSpPr/>
          <p:nvPr/>
        </p:nvGrpSpPr>
        <p:grpSpPr>
          <a:xfrm rot="0">
            <a:off x="0" y="821440"/>
            <a:ext cx="4012737" cy="880457"/>
            <a:chOff x="0" y="0"/>
            <a:chExt cx="1056853" cy="231890"/>
          </a:xfrm>
        </p:grpSpPr>
        <p:sp>
          <p:nvSpPr>
            <p:cNvPr name="Freeform 7" id="7"/>
            <p:cNvSpPr/>
            <p:nvPr/>
          </p:nvSpPr>
          <p:spPr>
            <a:xfrm flipH="false" flipV="false" rot="0">
              <a:off x="0" y="0"/>
              <a:ext cx="1056853" cy="231890"/>
            </a:xfrm>
            <a:custGeom>
              <a:avLst/>
              <a:gdLst/>
              <a:ahLst/>
              <a:cxnLst/>
              <a:rect r="r" b="b" t="t" l="l"/>
              <a:pathLst>
                <a:path h="231890" w="1056853">
                  <a:moveTo>
                    <a:pt x="0" y="0"/>
                  </a:moveTo>
                  <a:lnTo>
                    <a:pt x="1056853" y="0"/>
                  </a:lnTo>
                  <a:lnTo>
                    <a:pt x="1056853" y="231890"/>
                  </a:lnTo>
                  <a:lnTo>
                    <a:pt x="0" y="231890"/>
                  </a:lnTo>
                  <a:close/>
                </a:path>
              </a:pathLst>
            </a:custGeom>
            <a:solidFill>
              <a:srgbClr val="C2410A"/>
            </a:solidFill>
          </p:spPr>
        </p:sp>
        <p:sp>
          <p:nvSpPr>
            <p:cNvPr name="TextBox 8" id="8"/>
            <p:cNvSpPr txBox="true"/>
            <p:nvPr/>
          </p:nvSpPr>
          <p:spPr>
            <a:xfrm>
              <a:off x="0" y="-38100"/>
              <a:ext cx="1056853" cy="269990"/>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98046" y="981075"/>
            <a:ext cx="3814692" cy="515863"/>
          </a:xfrm>
          <a:prstGeom prst="rect">
            <a:avLst/>
          </a:prstGeom>
        </p:spPr>
        <p:txBody>
          <a:bodyPr anchor="t" rtlCol="false" tIns="0" lIns="0" bIns="0" rIns="0">
            <a:spAutoFit/>
          </a:bodyPr>
          <a:lstStyle/>
          <a:p>
            <a:pPr algn="l">
              <a:lnSpc>
                <a:spcPts val="4327"/>
              </a:lnSpc>
              <a:spcBef>
                <a:spcPct val="0"/>
              </a:spcBef>
            </a:pPr>
            <a:r>
              <a:rPr lang="en-US" b="true" sz="3090">
                <a:solidFill>
                  <a:srgbClr val="FFFFFF"/>
                </a:solidFill>
                <a:latin typeface="Open Sans Medium"/>
                <a:ea typeface="Open Sans Medium"/>
                <a:cs typeface="Open Sans Medium"/>
                <a:sym typeface="Open Sans Medium"/>
              </a:rPr>
              <a:t>Experimental Setup</a:t>
            </a:r>
          </a:p>
        </p:txBody>
      </p:sp>
      <p:sp>
        <p:nvSpPr>
          <p:cNvPr name="TextBox 10" id="10"/>
          <p:cNvSpPr txBox="true"/>
          <p:nvPr/>
        </p:nvSpPr>
        <p:spPr>
          <a:xfrm rot="0">
            <a:off x="1663129" y="2136367"/>
            <a:ext cx="4073553" cy="501574"/>
          </a:xfrm>
          <a:prstGeom prst="rect">
            <a:avLst/>
          </a:prstGeom>
        </p:spPr>
        <p:txBody>
          <a:bodyPr anchor="t" rtlCol="false" tIns="0" lIns="0" bIns="0" rIns="0">
            <a:spAutoFit/>
          </a:bodyPr>
          <a:lstStyle/>
          <a:p>
            <a:pPr algn="l">
              <a:lnSpc>
                <a:spcPts val="3944"/>
              </a:lnSpc>
            </a:pPr>
            <a:r>
              <a:rPr lang="en-US" sz="3287" b="true">
                <a:solidFill>
                  <a:srgbClr val="000000"/>
                </a:solidFill>
                <a:latin typeface="Open Sauce Bold"/>
                <a:ea typeface="Open Sauce Bold"/>
                <a:cs typeface="Open Sauce Bold"/>
                <a:sym typeface="Open Sauce Bold"/>
              </a:rPr>
              <a:t>Hardware Platform</a:t>
            </a:r>
          </a:p>
        </p:txBody>
      </p:sp>
      <p:sp>
        <p:nvSpPr>
          <p:cNvPr name="TextBox 11" id="11"/>
          <p:cNvSpPr txBox="true"/>
          <p:nvPr/>
        </p:nvSpPr>
        <p:spPr>
          <a:xfrm rot="0">
            <a:off x="2047977" y="2899325"/>
            <a:ext cx="5716365" cy="1225599"/>
          </a:xfrm>
          <a:prstGeom prst="rect">
            <a:avLst/>
          </a:prstGeom>
        </p:spPr>
        <p:txBody>
          <a:bodyPr anchor="t" rtlCol="false" tIns="0" lIns="0" bIns="0" rIns="0">
            <a:spAutoFit/>
          </a:bodyPr>
          <a:lstStyle/>
          <a:p>
            <a:pPr algn="l" marL="503336" indent="-251668" lvl="1">
              <a:lnSpc>
                <a:spcPts val="3263"/>
              </a:lnSpc>
              <a:buFont typeface="Arial"/>
              <a:buChar char="•"/>
            </a:pPr>
            <a:r>
              <a:rPr lang="en-US" b="true" sz="2331">
                <a:solidFill>
                  <a:srgbClr val="000000"/>
                </a:solidFill>
                <a:latin typeface="Open Sans Medium"/>
                <a:ea typeface="Open Sans Medium"/>
                <a:cs typeface="Open Sans Medium"/>
                <a:sym typeface="Open Sans Medium"/>
              </a:rPr>
              <a:t>NVIDIA GPU:</a:t>
            </a:r>
          </a:p>
          <a:p>
            <a:pPr algn="l" marL="1006671" indent="-335557" lvl="2">
              <a:lnSpc>
                <a:spcPts val="3263"/>
              </a:lnSpc>
              <a:buFont typeface="Arial"/>
              <a:buChar char="⚬"/>
            </a:pPr>
            <a:r>
              <a:rPr lang="en-US" b="true" sz="2331">
                <a:solidFill>
                  <a:srgbClr val="000000"/>
                </a:solidFill>
                <a:latin typeface="Open Sans Medium"/>
                <a:ea typeface="Open Sans Medium"/>
                <a:cs typeface="Open Sans Medium"/>
                <a:sym typeface="Open Sans Medium"/>
              </a:rPr>
              <a:t>RTX 3060 → 3,584 CUDA cores</a:t>
            </a:r>
          </a:p>
          <a:p>
            <a:pPr algn="l" marL="503336" indent="-251668" lvl="1">
              <a:lnSpc>
                <a:spcPts val="3263"/>
              </a:lnSpc>
              <a:spcBef>
                <a:spcPct val="0"/>
              </a:spcBef>
              <a:buFont typeface="Arial"/>
              <a:buChar char="•"/>
            </a:pPr>
            <a:r>
              <a:rPr lang="en-US" b="true" sz="2331">
                <a:solidFill>
                  <a:srgbClr val="000000"/>
                </a:solidFill>
                <a:latin typeface="Open Sans Medium"/>
                <a:ea typeface="Open Sans Medium"/>
                <a:cs typeface="Open Sans Medium"/>
                <a:sym typeface="Open Sans Medium"/>
              </a:rPr>
              <a:t>CUDA version: 12.8</a:t>
            </a:r>
          </a:p>
        </p:txBody>
      </p:sp>
      <p:sp>
        <p:nvSpPr>
          <p:cNvPr name="TextBox 12" id="12"/>
          <p:cNvSpPr txBox="true"/>
          <p:nvPr/>
        </p:nvSpPr>
        <p:spPr>
          <a:xfrm rot="0">
            <a:off x="1663129" y="5133975"/>
            <a:ext cx="1826957" cy="501574"/>
          </a:xfrm>
          <a:prstGeom prst="rect">
            <a:avLst/>
          </a:prstGeom>
        </p:spPr>
        <p:txBody>
          <a:bodyPr anchor="t" rtlCol="false" tIns="0" lIns="0" bIns="0" rIns="0">
            <a:spAutoFit/>
          </a:bodyPr>
          <a:lstStyle/>
          <a:p>
            <a:pPr algn="l">
              <a:lnSpc>
                <a:spcPts val="3944"/>
              </a:lnSpc>
            </a:pPr>
            <a:r>
              <a:rPr lang="en-US" sz="3287" b="true">
                <a:solidFill>
                  <a:srgbClr val="000000"/>
                </a:solidFill>
                <a:latin typeface="Open Sauce Bold"/>
                <a:ea typeface="Open Sauce Bold"/>
                <a:cs typeface="Open Sauce Bold"/>
                <a:sym typeface="Open Sauce Bold"/>
              </a:rPr>
              <a:t>Dataset</a:t>
            </a:r>
          </a:p>
        </p:txBody>
      </p:sp>
      <p:sp>
        <p:nvSpPr>
          <p:cNvPr name="TextBox 13" id="13"/>
          <p:cNvSpPr txBox="true"/>
          <p:nvPr/>
        </p:nvSpPr>
        <p:spPr>
          <a:xfrm rot="0">
            <a:off x="2392520" y="5892724"/>
            <a:ext cx="4637408" cy="813203"/>
          </a:xfrm>
          <a:prstGeom prst="rect">
            <a:avLst/>
          </a:prstGeom>
        </p:spPr>
        <p:txBody>
          <a:bodyPr anchor="t" rtlCol="false" tIns="0" lIns="0" bIns="0" rIns="0">
            <a:spAutoFit/>
          </a:bodyPr>
          <a:lstStyle/>
          <a:p>
            <a:pPr algn="l" marL="503336" indent="-251668" lvl="1">
              <a:lnSpc>
                <a:spcPts val="3263"/>
              </a:lnSpc>
              <a:buFont typeface="Arial"/>
              <a:buChar char="•"/>
            </a:pPr>
            <a:r>
              <a:rPr lang="en-US" b="true" sz="2331">
                <a:solidFill>
                  <a:srgbClr val="000000"/>
                </a:solidFill>
                <a:latin typeface="Open Sans Medium"/>
                <a:ea typeface="Open Sans Medium"/>
                <a:cs typeface="Open Sans Medium"/>
                <a:sym typeface="Open Sans Medium"/>
              </a:rPr>
              <a:t>16 sparse matrices</a:t>
            </a:r>
          </a:p>
          <a:p>
            <a:pPr algn="l" marL="503336" indent="-251668" lvl="1">
              <a:lnSpc>
                <a:spcPts val="3263"/>
              </a:lnSpc>
              <a:spcBef>
                <a:spcPct val="0"/>
              </a:spcBef>
              <a:buFont typeface="Arial"/>
              <a:buChar char="•"/>
            </a:pPr>
            <a:r>
              <a:rPr lang="en-US" b="true" sz="2331">
                <a:solidFill>
                  <a:srgbClr val="000000"/>
                </a:solidFill>
                <a:latin typeface="Open Sans Medium"/>
                <a:ea typeface="Open Sans Medium"/>
                <a:cs typeface="Open Sans Medium"/>
                <a:sym typeface="Open Sans Medium"/>
              </a:rPr>
              <a:t>From SuiteSparse Collection</a:t>
            </a:r>
          </a:p>
        </p:txBody>
      </p:sp>
      <p:sp>
        <p:nvSpPr>
          <p:cNvPr name="TextBox 14" id="14"/>
          <p:cNvSpPr txBox="true"/>
          <p:nvPr/>
        </p:nvSpPr>
        <p:spPr>
          <a:xfrm rot="0">
            <a:off x="9870757" y="5133975"/>
            <a:ext cx="4797784" cy="501574"/>
          </a:xfrm>
          <a:prstGeom prst="rect">
            <a:avLst/>
          </a:prstGeom>
        </p:spPr>
        <p:txBody>
          <a:bodyPr anchor="t" rtlCol="false" tIns="0" lIns="0" bIns="0" rIns="0">
            <a:spAutoFit/>
          </a:bodyPr>
          <a:lstStyle/>
          <a:p>
            <a:pPr algn="l">
              <a:lnSpc>
                <a:spcPts val="3944"/>
              </a:lnSpc>
            </a:pPr>
            <a:r>
              <a:rPr lang="en-US" sz="3287" b="true">
                <a:solidFill>
                  <a:srgbClr val="000000"/>
                </a:solidFill>
                <a:latin typeface="Open Sauce Bold"/>
                <a:ea typeface="Open Sauce Bold"/>
                <a:cs typeface="Open Sauce Bold"/>
                <a:sym typeface="Open Sauce Bold"/>
              </a:rPr>
              <a:t>Computation Tasks</a:t>
            </a:r>
          </a:p>
        </p:txBody>
      </p:sp>
      <p:sp>
        <p:nvSpPr>
          <p:cNvPr name="TextBox 15" id="15"/>
          <p:cNvSpPr txBox="true"/>
          <p:nvPr/>
        </p:nvSpPr>
        <p:spPr>
          <a:xfrm rot="0">
            <a:off x="9870757" y="5783289"/>
            <a:ext cx="5716365" cy="1637996"/>
          </a:xfrm>
          <a:prstGeom prst="rect">
            <a:avLst/>
          </a:prstGeom>
        </p:spPr>
        <p:txBody>
          <a:bodyPr anchor="t" rtlCol="false" tIns="0" lIns="0" bIns="0" rIns="0">
            <a:spAutoFit/>
          </a:bodyPr>
          <a:lstStyle/>
          <a:p>
            <a:pPr algn="l">
              <a:lnSpc>
                <a:spcPts val="3263"/>
              </a:lnSpc>
            </a:pPr>
            <a:r>
              <a:rPr lang="en-US" sz="2331" b="true">
                <a:solidFill>
                  <a:srgbClr val="000000"/>
                </a:solidFill>
                <a:latin typeface="Open Sans Medium"/>
                <a:ea typeface="Open Sans Medium"/>
                <a:cs typeface="Open Sans Medium"/>
                <a:sym typeface="Open Sans Medium"/>
              </a:rPr>
              <a:t>Matrix multiplication:</a:t>
            </a:r>
          </a:p>
          <a:p>
            <a:pPr algn="l" marL="503336" indent="-251668" lvl="1">
              <a:lnSpc>
                <a:spcPts val="3263"/>
              </a:lnSpc>
              <a:buFont typeface="Arial"/>
              <a:buChar char="•"/>
            </a:pPr>
            <a:r>
              <a:rPr lang="en-US" b="true" sz="2331">
                <a:solidFill>
                  <a:srgbClr val="000000"/>
                </a:solidFill>
                <a:latin typeface="Open Sans Medium"/>
                <a:ea typeface="Open Sans Medium"/>
                <a:cs typeface="Open Sans Medium"/>
                <a:sym typeface="Open Sans Medium"/>
              </a:rPr>
              <a:t>C=A*A</a:t>
            </a:r>
          </a:p>
          <a:p>
            <a:pPr algn="l" marL="503336" indent="-251668" lvl="1">
              <a:lnSpc>
                <a:spcPts val="3263"/>
              </a:lnSpc>
              <a:buFont typeface="Arial"/>
              <a:buChar char="•"/>
            </a:pPr>
            <a:r>
              <a:rPr lang="en-US" b="true" sz="2331">
                <a:solidFill>
                  <a:srgbClr val="000000"/>
                </a:solidFill>
                <a:latin typeface="Open Sans Medium"/>
                <a:ea typeface="Open Sans Medium"/>
                <a:cs typeface="Open Sans Medium"/>
                <a:sym typeface="Open Sans Medium"/>
              </a:rPr>
              <a:t>C=A*</a:t>
            </a:r>
          </a:p>
          <a:p>
            <a:pPr algn="l">
              <a:lnSpc>
                <a:spcPts val="3263"/>
              </a:lnSpc>
              <a:spcBef>
                <a:spcPct val="0"/>
              </a:spcBef>
            </a:pPr>
          </a:p>
        </p:txBody>
      </p:sp>
      <p:sp>
        <p:nvSpPr>
          <p:cNvPr name="TextBox 16" id="16"/>
          <p:cNvSpPr txBox="true"/>
          <p:nvPr/>
        </p:nvSpPr>
        <p:spPr>
          <a:xfrm rot="0">
            <a:off x="10166362" y="2136367"/>
            <a:ext cx="4797784" cy="501574"/>
          </a:xfrm>
          <a:prstGeom prst="rect">
            <a:avLst/>
          </a:prstGeom>
        </p:spPr>
        <p:txBody>
          <a:bodyPr anchor="t" rtlCol="false" tIns="0" lIns="0" bIns="0" rIns="0">
            <a:spAutoFit/>
          </a:bodyPr>
          <a:lstStyle/>
          <a:p>
            <a:pPr algn="l">
              <a:lnSpc>
                <a:spcPts val="3944"/>
              </a:lnSpc>
            </a:pPr>
            <a:r>
              <a:rPr lang="en-US" sz="3287" b="true">
                <a:solidFill>
                  <a:srgbClr val="000000"/>
                </a:solidFill>
                <a:latin typeface="Open Sauce Bold"/>
                <a:ea typeface="Open Sauce Bold"/>
                <a:cs typeface="Open Sauce Bold"/>
                <a:sym typeface="Open Sauce Bold"/>
              </a:rPr>
              <a:t>Algorithms Compared</a:t>
            </a:r>
          </a:p>
        </p:txBody>
      </p:sp>
      <p:sp>
        <p:nvSpPr>
          <p:cNvPr name="TextBox 17" id="17"/>
          <p:cNvSpPr txBox="true"/>
          <p:nvPr/>
        </p:nvSpPr>
        <p:spPr>
          <a:xfrm rot="0">
            <a:off x="10166362" y="2899325"/>
            <a:ext cx="5716365" cy="813203"/>
          </a:xfrm>
          <a:prstGeom prst="rect">
            <a:avLst/>
          </a:prstGeom>
        </p:spPr>
        <p:txBody>
          <a:bodyPr anchor="t" rtlCol="false" tIns="0" lIns="0" bIns="0" rIns="0">
            <a:spAutoFit/>
          </a:bodyPr>
          <a:lstStyle/>
          <a:p>
            <a:pPr algn="l" marL="503336" indent="-251668" lvl="1">
              <a:lnSpc>
                <a:spcPts val="3263"/>
              </a:lnSpc>
              <a:buFont typeface="Arial"/>
              <a:buChar char="•"/>
            </a:pPr>
            <a:r>
              <a:rPr lang="en-US" b="true" sz="2331">
                <a:solidFill>
                  <a:srgbClr val="000000"/>
                </a:solidFill>
                <a:latin typeface="Open Sans Medium"/>
                <a:ea typeface="Open Sans Medium"/>
                <a:cs typeface="Open Sans Medium"/>
                <a:sym typeface="Open Sans Medium"/>
              </a:rPr>
              <a:t>RowSpGEMM (cuSPARSE) </a:t>
            </a:r>
          </a:p>
          <a:p>
            <a:pPr algn="l">
              <a:lnSpc>
                <a:spcPts val="3263"/>
              </a:lnSpc>
              <a:spcBef>
                <a:spcPct val="0"/>
              </a:spcBef>
            </a:pPr>
          </a:p>
        </p:txBody>
      </p:sp>
      <p:pic>
        <p:nvPicPr>
          <p:cNvPr name="Picture 18" id="18"/>
          <p:cNvPicPr>
            <a:picLocks noChangeAspect="true"/>
          </p:cNvPicPr>
          <p:nvPr/>
        </p:nvPicPr>
        <p:blipFill>
          <a:blip r:embed="rId2"/>
          <a:stretch>
            <a:fillRect/>
          </a:stretch>
        </p:blipFill>
        <p:spPr>
          <a:xfrm rot="0">
            <a:off x="11034010" y="6632576"/>
            <a:ext cx="474521" cy="348701"/>
          </a:xfrm>
          <a:prstGeom prst="rect">
            <a:avLst/>
          </a:prstGeom>
        </p:spPr>
      </p:pic>
      <p:grpSp>
        <p:nvGrpSpPr>
          <p:cNvPr name="Group 19" id="19"/>
          <p:cNvGrpSpPr/>
          <p:nvPr/>
        </p:nvGrpSpPr>
        <p:grpSpPr>
          <a:xfrm rot="0">
            <a:off x="2761404" y="8413115"/>
            <a:ext cx="634239" cy="634239"/>
            <a:chOff x="0" y="0"/>
            <a:chExt cx="194912" cy="194912"/>
          </a:xfrm>
        </p:grpSpPr>
        <p:sp>
          <p:nvSpPr>
            <p:cNvPr name="Freeform 20" id="20"/>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21" id="21"/>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22" id="22"/>
          <p:cNvGrpSpPr/>
          <p:nvPr/>
        </p:nvGrpSpPr>
        <p:grpSpPr>
          <a:xfrm rot="0">
            <a:off x="6534038" y="8411338"/>
            <a:ext cx="634239" cy="634239"/>
            <a:chOff x="0" y="0"/>
            <a:chExt cx="194912" cy="194912"/>
          </a:xfrm>
        </p:grpSpPr>
        <p:sp>
          <p:nvSpPr>
            <p:cNvPr name="Freeform 23" id="23"/>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24" id="24"/>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25" id="25"/>
          <p:cNvGrpSpPr/>
          <p:nvPr/>
        </p:nvGrpSpPr>
        <p:grpSpPr>
          <a:xfrm rot="0">
            <a:off x="10648895" y="8411338"/>
            <a:ext cx="634239" cy="634239"/>
            <a:chOff x="0" y="0"/>
            <a:chExt cx="194912" cy="194912"/>
          </a:xfrm>
        </p:grpSpPr>
        <p:sp>
          <p:nvSpPr>
            <p:cNvPr name="Freeform 26" id="26"/>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27" id="27"/>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14710386" y="8414893"/>
            <a:ext cx="634239" cy="634239"/>
            <a:chOff x="0" y="0"/>
            <a:chExt cx="194912" cy="194912"/>
          </a:xfrm>
        </p:grpSpPr>
        <p:sp>
          <p:nvSpPr>
            <p:cNvPr name="Freeform 29" id="29"/>
            <p:cNvSpPr/>
            <p:nvPr/>
          </p:nvSpPr>
          <p:spPr>
            <a:xfrm flipH="false" flipV="false" rot="0">
              <a:off x="0" y="0"/>
              <a:ext cx="194912" cy="194912"/>
            </a:xfrm>
            <a:custGeom>
              <a:avLst/>
              <a:gdLst/>
              <a:ahLst/>
              <a:cxnLst/>
              <a:rect r="r" b="b" t="t" l="l"/>
              <a:pathLst>
                <a:path h="194912" w="194912">
                  <a:moveTo>
                    <a:pt x="0" y="0"/>
                  </a:moveTo>
                  <a:lnTo>
                    <a:pt x="194912" y="0"/>
                  </a:lnTo>
                  <a:lnTo>
                    <a:pt x="194912" y="194912"/>
                  </a:lnTo>
                  <a:lnTo>
                    <a:pt x="0" y="194912"/>
                  </a:lnTo>
                  <a:close/>
                </a:path>
              </a:pathLst>
            </a:custGeom>
            <a:solidFill>
              <a:srgbClr val="C2410A"/>
            </a:solidFill>
          </p:spPr>
        </p:sp>
        <p:sp>
          <p:nvSpPr>
            <p:cNvPr name="TextBox 30" id="30"/>
            <p:cNvSpPr txBox="true"/>
            <p:nvPr/>
          </p:nvSpPr>
          <p:spPr>
            <a:xfrm>
              <a:off x="0" y="-38100"/>
              <a:ext cx="194912" cy="233012"/>
            </a:xfrm>
            <a:prstGeom prst="rect">
              <a:avLst/>
            </a:prstGeom>
          </p:spPr>
          <p:txBody>
            <a:bodyPr anchor="ctr" rtlCol="false" tIns="50800" lIns="50800" bIns="50800" rIns="50800"/>
            <a:lstStyle/>
            <a:p>
              <a:pPr algn="ctr">
                <a:lnSpc>
                  <a:spcPts val="2940"/>
                </a:lnSpc>
              </a:pPr>
            </a:p>
          </p:txBody>
        </p:sp>
      </p:grpSp>
      <p:sp>
        <p:nvSpPr>
          <p:cNvPr name="TextBox 31" id="31"/>
          <p:cNvSpPr txBox="true"/>
          <p:nvPr/>
        </p:nvSpPr>
        <p:spPr>
          <a:xfrm rot="0">
            <a:off x="251941" y="7462088"/>
            <a:ext cx="4620422" cy="501574"/>
          </a:xfrm>
          <a:prstGeom prst="rect">
            <a:avLst/>
          </a:prstGeom>
        </p:spPr>
        <p:txBody>
          <a:bodyPr anchor="t" rtlCol="false" tIns="0" lIns="0" bIns="0" rIns="0">
            <a:spAutoFit/>
          </a:bodyPr>
          <a:lstStyle/>
          <a:p>
            <a:pPr algn="l">
              <a:lnSpc>
                <a:spcPts val="3944"/>
              </a:lnSpc>
            </a:pPr>
            <a:r>
              <a:rPr lang="en-US" sz="3287" b="true">
                <a:solidFill>
                  <a:srgbClr val="000000"/>
                </a:solidFill>
                <a:latin typeface="Open Sauce Bold"/>
                <a:ea typeface="Open Sauce Bold"/>
                <a:cs typeface="Open Sauce Bold"/>
                <a:sym typeface="Open Sauce Bold"/>
              </a:rPr>
              <a:t>Performance Metrics</a:t>
            </a:r>
          </a:p>
        </p:txBody>
      </p:sp>
      <p:sp>
        <p:nvSpPr>
          <p:cNvPr name="TextBox 32" id="32"/>
          <p:cNvSpPr txBox="true"/>
          <p:nvPr/>
        </p:nvSpPr>
        <p:spPr>
          <a:xfrm rot="0">
            <a:off x="2824808" y="8567114"/>
            <a:ext cx="507432" cy="301222"/>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Medium"/>
                <a:ea typeface="Open Sans Medium"/>
                <a:cs typeface="Open Sans Medium"/>
                <a:sym typeface="Open Sans Medium"/>
              </a:rPr>
              <a:t>1</a:t>
            </a:r>
          </a:p>
        </p:txBody>
      </p:sp>
      <p:sp>
        <p:nvSpPr>
          <p:cNvPr name="TextBox 33" id="33"/>
          <p:cNvSpPr txBox="true"/>
          <p:nvPr/>
        </p:nvSpPr>
        <p:spPr>
          <a:xfrm rot="0">
            <a:off x="1663129" y="9281882"/>
            <a:ext cx="3044445" cy="382856"/>
          </a:xfrm>
          <a:prstGeom prst="rect">
            <a:avLst/>
          </a:prstGeom>
        </p:spPr>
        <p:txBody>
          <a:bodyPr anchor="t" rtlCol="false" tIns="0" lIns="0" bIns="0" rIns="0">
            <a:spAutoFit/>
          </a:bodyPr>
          <a:lstStyle/>
          <a:p>
            <a:pPr algn="l">
              <a:lnSpc>
                <a:spcPts val="3119"/>
              </a:lnSpc>
              <a:spcBef>
                <a:spcPct val="0"/>
              </a:spcBef>
            </a:pPr>
            <a:r>
              <a:rPr lang="en-US" b="true" sz="2228">
                <a:solidFill>
                  <a:srgbClr val="000000"/>
                </a:solidFill>
                <a:latin typeface="Open Sans Medium"/>
                <a:ea typeface="Open Sans Medium"/>
                <a:cs typeface="Open Sans Medium"/>
                <a:sym typeface="Open Sans Medium"/>
              </a:rPr>
              <a:t>⏱️ </a:t>
            </a:r>
            <a:r>
              <a:rPr lang="en-US" b="true" sz="2228">
                <a:solidFill>
                  <a:srgbClr val="000000"/>
                </a:solidFill>
                <a:latin typeface="Open Sans Bold"/>
                <a:ea typeface="Open Sans Bold"/>
                <a:cs typeface="Open Sans Bold"/>
                <a:sym typeface="Open Sans Bold"/>
              </a:rPr>
              <a:t>Execution Time</a:t>
            </a:r>
          </a:p>
        </p:txBody>
      </p:sp>
      <p:sp>
        <p:nvSpPr>
          <p:cNvPr name="TextBox 34" id="34"/>
          <p:cNvSpPr txBox="true"/>
          <p:nvPr/>
        </p:nvSpPr>
        <p:spPr>
          <a:xfrm rot="0">
            <a:off x="6597442" y="8565337"/>
            <a:ext cx="507432" cy="301222"/>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Medium"/>
                <a:ea typeface="Open Sans Medium"/>
                <a:cs typeface="Open Sans Medium"/>
                <a:sym typeface="Open Sans Medium"/>
              </a:rPr>
              <a:t>2</a:t>
            </a:r>
          </a:p>
        </p:txBody>
      </p:sp>
      <p:sp>
        <p:nvSpPr>
          <p:cNvPr name="TextBox 35" id="35"/>
          <p:cNvSpPr txBox="true"/>
          <p:nvPr/>
        </p:nvSpPr>
        <p:spPr>
          <a:xfrm rot="0">
            <a:off x="10712299" y="8563559"/>
            <a:ext cx="507432" cy="301222"/>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Medium"/>
                <a:ea typeface="Open Sans Medium"/>
                <a:cs typeface="Open Sans Medium"/>
                <a:sym typeface="Open Sans Medium"/>
              </a:rPr>
              <a:t>3</a:t>
            </a:r>
          </a:p>
        </p:txBody>
      </p:sp>
      <p:sp>
        <p:nvSpPr>
          <p:cNvPr name="TextBox 36" id="36"/>
          <p:cNvSpPr txBox="true"/>
          <p:nvPr/>
        </p:nvSpPr>
        <p:spPr>
          <a:xfrm rot="0">
            <a:off x="14773790" y="8567114"/>
            <a:ext cx="507432" cy="301222"/>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Medium"/>
                <a:ea typeface="Open Sans Medium"/>
                <a:cs typeface="Open Sans Medium"/>
                <a:sym typeface="Open Sans Medium"/>
              </a:rPr>
              <a:t>4</a:t>
            </a:r>
          </a:p>
        </p:txBody>
      </p:sp>
      <p:sp>
        <p:nvSpPr>
          <p:cNvPr name="TextBox 37" id="37"/>
          <p:cNvSpPr txBox="true"/>
          <p:nvPr/>
        </p:nvSpPr>
        <p:spPr>
          <a:xfrm rot="0">
            <a:off x="5227709" y="9280104"/>
            <a:ext cx="3589121" cy="382856"/>
          </a:xfrm>
          <a:prstGeom prst="rect">
            <a:avLst/>
          </a:prstGeom>
        </p:spPr>
        <p:txBody>
          <a:bodyPr anchor="t" rtlCol="false" tIns="0" lIns="0" bIns="0" rIns="0">
            <a:spAutoFit/>
          </a:bodyPr>
          <a:lstStyle/>
          <a:p>
            <a:pPr algn="l">
              <a:lnSpc>
                <a:spcPts val="3119"/>
              </a:lnSpc>
              <a:spcBef>
                <a:spcPct val="0"/>
              </a:spcBef>
            </a:pPr>
            <a:r>
              <a:rPr lang="en-US" b="true" sz="2228">
                <a:solidFill>
                  <a:srgbClr val="000000"/>
                </a:solidFill>
                <a:latin typeface="Open Sans Bold"/>
                <a:ea typeface="Open Sans Bold"/>
                <a:cs typeface="Open Sans Bold"/>
                <a:sym typeface="Open Sans Bold"/>
              </a:rPr>
              <a:t>🚀 Throughput (FLOPS)</a:t>
            </a:r>
          </a:p>
        </p:txBody>
      </p:sp>
      <p:sp>
        <p:nvSpPr>
          <p:cNvPr name="TextBox 38" id="38"/>
          <p:cNvSpPr txBox="true"/>
          <p:nvPr/>
        </p:nvSpPr>
        <p:spPr>
          <a:xfrm rot="0">
            <a:off x="9638834" y="9280104"/>
            <a:ext cx="3044445" cy="382856"/>
          </a:xfrm>
          <a:prstGeom prst="rect">
            <a:avLst/>
          </a:prstGeom>
        </p:spPr>
        <p:txBody>
          <a:bodyPr anchor="t" rtlCol="false" tIns="0" lIns="0" bIns="0" rIns="0">
            <a:spAutoFit/>
          </a:bodyPr>
          <a:lstStyle/>
          <a:p>
            <a:pPr algn="l">
              <a:lnSpc>
                <a:spcPts val="3119"/>
              </a:lnSpc>
              <a:spcBef>
                <a:spcPct val="0"/>
              </a:spcBef>
            </a:pPr>
            <a:r>
              <a:rPr lang="en-US" b="true" sz="2228">
                <a:solidFill>
                  <a:srgbClr val="000000"/>
                </a:solidFill>
                <a:latin typeface="Open Sans Bold"/>
                <a:ea typeface="Open Sans Bold"/>
                <a:cs typeface="Open Sans Bold"/>
                <a:sym typeface="Open Sans Bold"/>
              </a:rPr>
              <a:t>💾 Memory Usage</a:t>
            </a:r>
          </a:p>
        </p:txBody>
      </p:sp>
      <p:sp>
        <p:nvSpPr>
          <p:cNvPr name="TextBox 39" id="39"/>
          <p:cNvSpPr txBox="true"/>
          <p:nvPr/>
        </p:nvSpPr>
        <p:spPr>
          <a:xfrm rot="0">
            <a:off x="13205716" y="9280104"/>
            <a:ext cx="3698685" cy="382856"/>
          </a:xfrm>
          <a:prstGeom prst="rect">
            <a:avLst/>
          </a:prstGeom>
        </p:spPr>
        <p:txBody>
          <a:bodyPr anchor="t" rtlCol="false" tIns="0" lIns="0" bIns="0" rIns="0">
            <a:spAutoFit/>
          </a:bodyPr>
          <a:lstStyle/>
          <a:p>
            <a:pPr algn="l">
              <a:lnSpc>
                <a:spcPts val="3119"/>
              </a:lnSpc>
              <a:spcBef>
                <a:spcPct val="0"/>
              </a:spcBef>
            </a:pPr>
            <a:r>
              <a:rPr lang="en-US" b="true" sz="2228">
                <a:solidFill>
                  <a:srgbClr val="000000"/>
                </a:solidFill>
                <a:latin typeface="Open Sans Bold"/>
                <a:ea typeface="Open Sans Bold"/>
                <a:cs typeface="Open Sans Bold"/>
                <a:sym typeface="Open Sans Bold"/>
              </a:rPr>
              <a:t>📈 Runtime Breakdown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0" y="906606"/>
            <a:ext cx="6769663" cy="880457"/>
            <a:chOff x="0" y="0"/>
            <a:chExt cx="1782957" cy="231890"/>
          </a:xfrm>
        </p:grpSpPr>
        <p:sp>
          <p:nvSpPr>
            <p:cNvPr name="Freeform 6" id="6"/>
            <p:cNvSpPr/>
            <p:nvPr/>
          </p:nvSpPr>
          <p:spPr>
            <a:xfrm flipH="false" flipV="false" rot="0">
              <a:off x="0" y="0"/>
              <a:ext cx="1782957" cy="231890"/>
            </a:xfrm>
            <a:custGeom>
              <a:avLst/>
              <a:gdLst/>
              <a:ahLst/>
              <a:cxnLst/>
              <a:rect r="r" b="b" t="t" l="l"/>
              <a:pathLst>
                <a:path h="231890" w="1782957">
                  <a:moveTo>
                    <a:pt x="0" y="0"/>
                  </a:moveTo>
                  <a:lnTo>
                    <a:pt x="1782957" y="0"/>
                  </a:lnTo>
                  <a:lnTo>
                    <a:pt x="1782957" y="231890"/>
                  </a:lnTo>
                  <a:lnTo>
                    <a:pt x="0" y="231890"/>
                  </a:lnTo>
                  <a:close/>
                </a:path>
              </a:pathLst>
            </a:custGeom>
            <a:solidFill>
              <a:srgbClr val="C2410A"/>
            </a:solidFill>
          </p:spPr>
        </p:sp>
        <p:sp>
          <p:nvSpPr>
            <p:cNvPr name="TextBox 7" id="7"/>
            <p:cNvSpPr txBox="true"/>
            <p:nvPr/>
          </p:nvSpPr>
          <p:spPr>
            <a:xfrm>
              <a:off x="0" y="-47625"/>
              <a:ext cx="1782957" cy="279515"/>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Performance Comparison (GFlops)</a:t>
              </a:r>
            </a:p>
          </p:txBody>
        </p:sp>
      </p:grpSp>
      <p:sp>
        <p:nvSpPr>
          <p:cNvPr name="Freeform 8" id="8"/>
          <p:cNvSpPr/>
          <p:nvPr/>
        </p:nvSpPr>
        <p:spPr>
          <a:xfrm flipH="false" flipV="false" rot="0">
            <a:off x="0" y="2025487"/>
            <a:ext cx="18288000" cy="3703869"/>
          </a:xfrm>
          <a:custGeom>
            <a:avLst/>
            <a:gdLst/>
            <a:ahLst/>
            <a:cxnLst/>
            <a:rect r="r" b="b" t="t" l="l"/>
            <a:pathLst>
              <a:path h="3703869" w="18288000">
                <a:moveTo>
                  <a:pt x="0" y="0"/>
                </a:moveTo>
                <a:lnTo>
                  <a:pt x="18288000" y="0"/>
                </a:lnTo>
                <a:lnTo>
                  <a:pt x="18288000" y="3703870"/>
                </a:lnTo>
                <a:lnTo>
                  <a:pt x="0" y="3703870"/>
                </a:lnTo>
                <a:lnTo>
                  <a:pt x="0" y="0"/>
                </a:lnTo>
                <a:close/>
              </a:path>
            </a:pathLst>
          </a:custGeom>
          <a:blipFill>
            <a:blip r:embed="rId2"/>
            <a:stretch>
              <a:fillRect l="0" t="-6781" r="0" b="-6781"/>
            </a:stretch>
          </a:blipFill>
        </p:spPr>
      </p:sp>
      <p:sp>
        <p:nvSpPr>
          <p:cNvPr name="TextBox 9" id="9"/>
          <p:cNvSpPr txBox="true"/>
          <p:nvPr/>
        </p:nvSpPr>
        <p:spPr>
          <a:xfrm rot="0">
            <a:off x="0" y="5824607"/>
            <a:ext cx="18288000" cy="4277991"/>
          </a:xfrm>
          <a:prstGeom prst="rect">
            <a:avLst/>
          </a:prstGeom>
        </p:spPr>
        <p:txBody>
          <a:bodyPr anchor="t" rtlCol="false" tIns="0" lIns="0" bIns="0" rIns="0">
            <a:spAutoFit/>
          </a:bodyPr>
          <a:lstStyle/>
          <a:p>
            <a:pPr algn="l">
              <a:lnSpc>
                <a:spcPts val="3080"/>
              </a:lnSpc>
            </a:pPr>
            <a:r>
              <a:rPr lang="en-US" sz="2200" b="true">
                <a:solidFill>
                  <a:srgbClr val="000000"/>
                </a:solidFill>
                <a:latin typeface="Open Sans Medium"/>
                <a:ea typeface="Open Sans Medium"/>
                <a:cs typeface="Open Sans Medium"/>
                <a:sym typeface="Open Sans Medium"/>
              </a:rPr>
              <a:t>Fig. 1: SpGEMM throughput (GFlops, double precision, C = A²) comparing RowSpGEMM (cuSPARSE, blue) and TileSpGEMM (orange).</a:t>
            </a:r>
          </a:p>
          <a:p>
            <a:pPr algn="l">
              <a:lnSpc>
                <a:spcPts val="3080"/>
              </a:lnSpc>
            </a:pPr>
          </a:p>
          <a:p>
            <a:pPr algn="l">
              <a:lnSpc>
                <a:spcPts val="3080"/>
              </a:lnSpc>
            </a:pPr>
            <a:r>
              <a:rPr lang="en-US" sz="2200" b="true">
                <a:solidFill>
                  <a:srgbClr val="000000"/>
                </a:solidFill>
                <a:latin typeface="Open Sans Medium"/>
                <a:ea typeface="Open Sans Medium"/>
                <a:cs typeface="Open Sans Medium"/>
                <a:sym typeface="Open Sans Medium"/>
              </a:rPr>
              <a:t>Figure 1 shows GFlops across 16 benchmark matrices. TileSpGEMM outperforms cuSPARSE on 15/16 matrices. Key highlights:</a:t>
            </a:r>
          </a:p>
          <a:p>
            <a:pPr algn="l">
              <a:lnSpc>
                <a:spcPts val="3080"/>
              </a:lnSpc>
            </a:pPr>
            <a:r>
              <a:rPr lang="en-US" sz="2200" b="true">
                <a:solidFill>
                  <a:srgbClr val="000000"/>
                </a:solidFill>
                <a:latin typeface="Open Sans Medium"/>
                <a:ea typeface="Open Sans Medium"/>
                <a:cs typeface="Open Sans Medium"/>
                <a:sym typeface="Open Sans Medium"/>
              </a:rPr>
              <a:t>• SiO₂: ≈36.3 GFlops vs ≈0.93 GFlops (~39× speedup). Its very high compression rate (136×) means many intermediate products collapse into few outputs; TileSpGEMM exploits this via tile-level aggregation, while row-wise methods process each product individually.</a:t>
            </a:r>
          </a:p>
          <a:p>
            <a:pPr algn="l">
              <a:lnSpc>
                <a:spcPts val="3080"/>
              </a:lnSpc>
            </a:pPr>
            <a:r>
              <a:rPr lang="en-US" sz="2200" b="true">
                <a:solidFill>
                  <a:srgbClr val="000000"/>
                </a:solidFill>
                <a:latin typeface="Open Sans Medium"/>
                <a:ea typeface="Open Sans Medium"/>
                <a:cs typeface="Open Sans Medium"/>
                <a:sym typeface="Open Sans Medium"/>
              </a:rPr>
              <a:t>• pdb1HYS: ≈30.9 vs ≈2.1 GFlops (~15×). A relatively uniform nonzero distribution enables balanced tile workloads.</a:t>
            </a:r>
          </a:p>
          <a:p>
            <a:pPr algn="l">
              <a:lnSpc>
                <a:spcPts val="3080"/>
              </a:lnSpc>
            </a:pPr>
            <a:r>
              <a:rPr lang="en-US" sz="2200" b="true">
                <a:solidFill>
                  <a:srgbClr val="000000"/>
                </a:solidFill>
                <a:latin typeface="Open Sans Medium"/>
                <a:ea typeface="Open Sans Medium"/>
                <a:cs typeface="Open Sans Medium"/>
                <a:sym typeface="Open Sans Medium"/>
              </a:rPr>
              <a:t>• pwtk: 36.6 vs 1.4 GFlops (~26× faster).</a:t>
            </a:r>
          </a:p>
          <a:p>
            <a:pPr algn="l">
              <a:lnSpc>
                <a:spcPts val="3080"/>
              </a:lnSpc>
            </a:pPr>
            <a:r>
              <a:rPr lang="en-US" sz="2200" b="true">
                <a:solidFill>
                  <a:srgbClr val="000000"/>
                </a:solidFill>
                <a:latin typeface="Open Sans Medium"/>
                <a:ea typeface="Open Sans Medium"/>
                <a:cs typeface="Open Sans Medium"/>
                <a:sym typeface="Open Sans Medium"/>
              </a:rPr>
              <a:t>• webbase-1M: the only case without large gains (≈1.4 vs ≈0.07 GFlops). This power-law graph has extremely sparse tiles (often 1–2 nonzeros), so tile overhead dominates.</a:t>
            </a:r>
          </a:p>
          <a:p>
            <a:pPr algn="l">
              <a:lnSpc>
                <a:spcPts val="3080"/>
              </a:lnSpc>
              <a:spcBef>
                <a:spcPct val="0"/>
              </a:spcBef>
            </a:pPr>
            <a:r>
              <a:rPr lang="en-US" b="true" sz="2200">
                <a:solidFill>
                  <a:srgbClr val="000000"/>
                </a:solidFill>
                <a:latin typeface="Open Sans Medium"/>
                <a:ea typeface="Open Sans Medium"/>
                <a:cs typeface="Open Sans Medium"/>
                <a:sym typeface="Open Sans Medium"/>
              </a:rPr>
              <a:t>Overall, the performance gap increases with compression rate: high-compression matrices benefit most, as tiles aggregate many partial results in fast on-chip memory.</a:t>
            </a:r>
          </a:p>
        </p:txBody>
      </p:sp>
      <p:sp>
        <p:nvSpPr>
          <p:cNvPr name="TextBox 10" id="10"/>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13</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0" y="557136"/>
            <a:ext cx="5896571" cy="1259119"/>
            <a:chOff x="0" y="0"/>
            <a:chExt cx="1553006" cy="331620"/>
          </a:xfrm>
        </p:grpSpPr>
        <p:sp>
          <p:nvSpPr>
            <p:cNvPr name="Freeform 6" id="6"/>
            <p:cNvSpPr/>
            <p:nvPr/>
          </p:nvSpPr>
          <p:spPr>
            <a:xfrm flipH="false" flipV="false" rot="0">
              <a:off x="0" y="0"/>
              <a:ext cx="1553006" cy="331620"/>
            </a:xfrm>
            <a:custGeom>
              <a:avLst/>
              <a:gdLst/>
              <a:ahLst/>
              <a:cxnLst/>
              <a:rect r="r" b="b" t="t" l="l"/>
              <a:pathLst>
                <a:path h="331620" w="1553006">
                  <a:moveTo>
                    <a:pt x="0" y="0"/>
                  </a:moveTo>
                  <a:lnTo>
                    <a:pt x="1553006" y="0"/>
                  </a:lnTo>
                  <a:lnTo>
                    <a:pt x="1553006" y="331620"/>
                  </a:lnTo>
                  <a:lnTo>
                    <a:pt x="0" y="331620"/>
                  </a:lnTo>
                  <a:close/>
                </a:path>
              </a:pathLst>
            </a:custGeom>
            <a:solidFill>
              <a:srgbClr val="C2410A"/>
            </a:solidFill>
          </p:spPr>
        </p:sp>
        <p:sp>
          <p:nvSpPr>
            <p:cNvPr name="TextBox 7" id="7"/>
            <p:cNvSpPr txBox="true"/>
            <p:nvPr/>
          </p:nvSpPr>
          <p:spPr>
            <a:xfrm>
              <a:off x="0" y="-47625"/>
              <a:ext cx="1553006" cy="379245"/>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Execution Time Comparison</a:t>
              </a:r>
            </a:p>
          </p:txBody>
        </p:sp>
      </p:grpSp>
      <p:sp>
        <p:nvSpPr>
          <p:cNvPr name="Freeform 8" id="8"/>
          <p:cNvSpPr/>
          <p:nvPr/>
        </p:nvSpPr>
        <p:spPr>
          <a:xfrm flipH="false" flipV="false" rot="0">
            <a:off x="0" y="1816256"/>
            <a:ext cx="18288000" cy="3833561"/>
          </a:xfrm>
          <a:custGeom>
            <a:avLst/>
            <a:gdLst/>
            <a:ahLst/>
            <a:cxnLst/>
            <a:rect r="r" b="b" t="t" l="l"/>
            <a:pathLst>
              <a:path h="3833561" w="18288000">
                <a:moveTo>
                  <a:pt x="0" y="0"/>
                </a:moveTo>
                <a:lnTo>
                  <a:pt x="18288000" y="0"/>
                </a:lnTo>
                <a:lnTo>
                  <a:pt x="18288000" y="3833561"/>
                </a:lnTo>
                <a:lnTo>
                  <a:pt x="0" y="3833561"/>
                </a:lnTo>
                <a:lnTo>
                  <a:pt x="0" y="0"/>
                </a:lnTo>
                <a:close/>
              </a:path>
            </a:pathLst>
          </a:custGeom>
          <a:blipFill>
            <a:blip r:embed="rId2"/>
            <a:stretch>
              <a:fillRect l="0" t="-4860" r="0" b="-4860"/>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14</a:t>
            </a:r>
          </a:p>
        </p:txBody>
      </p:sp>
      <p:sp>
        <p:nvSpPr>
          <p:cNvPr name="TextBox 10" id="10"/>
          <p:cNvSpPr txBox="true"/>
          <p:nvPr/>
        </p:nvSpPr>
        <p:spPr>
          <a:xfrm rot="0">
            <a:off x="1227679" y="5859367"/>
            <a:ext cx="16667657" cy="4439285"/>
          </a:xfrm>
          <a:prstGeom prst="rect">
            <a:avLst/>
          </a:prstGeom>
        </p:spPr>
        <p:txBody>
          <a:bodyPr anchor="t" rtlCol="false" tIns="0" lIns="0" bIns="0" rIns="0">
            <a:spAutoFit/>
          </a:bodyPr>
          <a:lstStyle/>
          <a:p>
            <a:pPr algn="just">
              <a:lnSpc>
                <a:spcPts val="3639"/>
              </a:lnSpc>
            </a:pPr>
            <a:r>
              <a:rPr lang="en-US" sz="2599" b="true">
                <a:solidFill>
                  <a:srgbClr val="000000"/>
                </a:solidFill>
                <a:latin typeface="Open Sans Medium"/>
                <a:ea typeface="Open Sans Medium"/>
                <a:cs typeface="Open Sans Medium"/>
                <a:sym typeface="Open Sans Medium"/>
              </a:rPr>
              <a:t>Fig. 2: Total execution time (ms) for RowSpGEMM and TileSpGEMM (C = A², double precision), highlighting large gaps on SiO₂ and pkustk12.</a:t>
            </a:r>
          </a:p>
          <a:p>
            <a:pPr algn="just">
              <a:lnSpc>
                <a:spcPts val="3639"/>
              </a:lnSpc>
            </a:pPr>
          </a:p>
          <a:p>
            <a:pPr algn="just">
              <a:lnSpc>
                <a:spcPts val="4199"/>
              </a:lnSpc>
            </a:pPr>
            <a:r>
              <a:rPr lang="en-US" sz="2999" b="true">
                <a:solidFill>
                  <a:srgbClr val="000000"/>
                </a:solidFill>
                <a:latin typeface="Open Sans Medium"/>
                <a:ea typeface="Open Sans Medium"/>
                <a:cs typeface="Open Sans Medium"/>
                <a:sym typeface="Open Sans Medium"/>
              </a:rPr>
              <a:t>Figure 2 reports absolute runtimes. The row-wise cuSPARSE method takes &gt;30,000 ms for SiO₂ and nearly 50,000 ms for pkustk12, whereas TileSpGEMM finishes in &lt;800 ms and ~285 ms, respectively. The pkustk12 speedup is especially notable: its dense local connectivity (5.4B flops from 7.5M nonzeros) produces very long rows, causing severe load imbalance for row-wise processing but forming compact, balanced tiles for TileSpGEMM.</a:t>
            </a:r>
          </a:p>
          <a:p>
            <a:pPr algn="just">
              <a:lnSpc>
                <a:spcPts val="363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083601"/>
            <a:ext cx="4623390" cy="732655"/>
            <a:chOff x="0" y="0"/>
            <a:chExt cx="1217683" cy="192963"/>
          </a:xfrm>
        </p:grpSpPr>
        <p:sp>
          <p:nvSpPr>
            <p:cNvPr name="Freeform 6" id="6"/>
            <p:cNvSpPr/>
            <p:nvPr/>
          </p:nvSpPr>
          <p:spPr>
            <a:xfrm flipH="false" flipV="false" rot="0">
              <a:off x="0" y="0"/>
              <a:ext cx="1217683" cy="192963"/>
            </a:xfrm>
            <a:custGeom>
              <a:avLst/>
              <a:gdLst/>
              <a:ahLst/>
              <a:cxnLst/>
              <a:rect r="r" b="b" t="t" l="l"/>
              <a:pathLst>
                <a:path h="192963" w="1217683">
                  <a:moveTo>
                    <a:pt x="0" y="0"/>
                  </a:moveTo>
                  <a:lnTo>
                    <a:pt x="1217683" y="0"/>
                  </a:lnTo>
                  <a:lnTo>
                    <a:pt x="1217683" y="192963"/>
                  </a:lnTo>
                  <a:lnTo>
                    <a:pt x="0" y="192963"/>
                  </a:lnTo>
                  <a:close/>
                </a:path>
              </a:pathLst>
            </a:custGeom>
            <a:solidFill>
              <a:srgbClr val="C2410A"/>
            </a:solidFill>
          </p:spPr>
        </p:sp>
        <p:sp>
          <p:nvSpPr>
            <p:cNvPr name="TextBox 7" id="7"/>
            <p:cNvSpPr txBox="true"/>
            <p:nvPr/>
          </p:nvSpPr>
          <p:spPr>
            <a:xfrm>
              <a:off x="0" y="-47625"/>
              <a:ext cx="1217683"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Memory Usage Analysis</a:t>
              </a:r>
            </a:p>
          </p:txBody>
        </p:sp>
      </p:grpSp>
      <p:sp>
        <p:nvSpPr>
          <p:cNvPr name="Freeform 8" id="8"/>
          <p:cNvSpPr/>
          <p:nvPr/>
        </p:nvSpPr>
        <p:spPr>
          <a:xfrm flipH="false" flipV="false" rot="0">
            <a:off x="182147" y="2013557"/>
            <a:ext cx="18105853" cy="3711700"/>
          </a:xfrm>
          <a:custGeom>
            <a:avLst/>
            <a:gdLst/>
            <a:ahLst/>
            <a:cxnLst/>
            <a:rect r="r" b="b" t="t" l="l"/>
            <a:pathLst>
              <a:path h="3711700" w="18105853">
                <a:moveTo>
                  <a:pt x="0" y="0"/>
                </a:moveTo>
                <a:lnTo>
                  <a:pt x="18105853" y="0"/>
                </a:lnTo>
                <a:lnTo>
                  <a:pt x="18105853" y="3711699"/>
                </a:lnTo>
                <a:lnTo>
                  <a:pt x="0" y="3711699"/>
                </a:lnTo>
                <a:lnTo>
                  <a:pt x="0" y="0"/>
                </a:lnTo>
                <a:close/>
              </a:path>
            </a:pathLst>
          </a:custGeom>
          <a:blipFill>
            <a:blip r:embed="rId2"/>
            <a:stretch>
              <a:fillRect l="0" t="0" r="0" b="0"/>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15</a:t>
            </a:r>
          </a:p>
        </p:txBody>
      </p:sp>
      <p:sp>
        <p:nvSpPr>
          <p:cNvPr name="TextBox 10" id="10"/>
          <p:cNvSpPr txBox="true"/>
          <p:nvPr/>
        </p:nvSpPr>
        <p:spPr>
          <a:xfrm rot="0">
            <a:off x="592957" y="5677631"/>
            <a:ext cx="17284233" cy="4803927"/>
          </a:xfrm>
          <a:prstGeom prst="rect">
            <a:avLst/>
          </a:prstGeom>
        </p:spPr>
        <p:txBody>
          <a:bodyPr anchor="t" rtlCol="false" tIns="0" lIns="0" bIns="0" rIns="0">
            <a:spAutoFit/>
          </a:bodyPr>
          <a:lstStyle/>
          <a:p>
            <a:pPr algn="l">
              <a:lnSpc>
                <a:spcPts val="3491"/>
              </a:lnSpc>
            </a:pPr>
            <a:r>
              <a:rPr lang="en-US" sz="2494" b="true">
                <a:solidFill>
                  <a:srgbClr val="000000"/>
                </a:solidFill>
                <a:latin typeface="Open Sans Medium"/>
                <a:ea typeface="Open Sans Medium"/>
                <a:cs typeface="Open Sans Medium"/>
                <a:sym typeface="Open Sans Medium"/>
              </a:rPr>
              <a:t>Fig. 3: Runtime peak memory cost (MB, C = A²) for RowSpGEMM/cuSPARSE (blue) and TileSpGEMM (orange), with execution time (ms) annotated below each bar.</a:t>
            </a:r>
          </a:p>
          <a:p>
            <a:pPr algn="l">
              <a:lnSpc>
                <a:spcPts val="3491"/>
              </a:lnSpc>
            </a:pPr>
          </a:p>
          <a:p>
            <a:pPr algn="l">
              <a:lnSpc>
                <a:spcPts val="3491"/>
              </a:lnSpc>
            </a:pPr>
            <a:r>
              <a:rPr lang="en-US" sz="2494" b="true">
                <a:solidFill>
                  <a:srgbClr val="000000"/>
                </a:solidFill>
                <a:latin typeface="Open Sans Medium"/>
                <a:ea typeface="Open Sans Medium"/>
                <a:cs typeface="Open Sans Medium"/>
                <a:sym typeface="Open Sans Medium"/>
              </a:rPr>
              <a:t>Figure 3 shows peak device memory usage. TileSpGEMM consistently uses much less memory than cuSPARSE:</a:t>
            </a:r>
          </a:p>
          <a:p>
            <a:pPr algn="l">
              <a:lnSpc>
                <a:spcPts val="3491"/>
              </a:lnSpc>
            </a:pPr>
            <a:r>
              <a:rPr lang="en-US" sz="2494" b="true">
                <a:solidFill>
                  <a:srgbClr val="000000"/>
                </a:solidFill>
                <a:latin typeface="Open Sans Medium"/>
                <a:ea typeface="Open Sans Medium"/>
                <a:cs typeface="Open Sans Medium"/>
                <a:sym typeface="Open Sans Medium"/>
              </a:rPr>
              <a:t>• pkustk12: ≈10,074 MB (cuSPARSE, exceeding a typical 8 GB GPU) vs ≈5,068 MB (~2× lower).</a:t>
            </a:r>
          </a:p>
          <a:p>
            <a:pPr algn="l">
              <a:lnSpc>
                <a:spcPts val="3491"/>
              </a:lnSpc>
            </a:pPr>
            <a:r>
              <a:rPr lang="en-US" sz="2494" b="true">
                <a:solidFill>
                  <a:srgbClr val="000000"/>
                </a:solidFill>
                <a:latin typeface="Open Sans Medium"/>
                <a:ea typeface="Open Sans Medium"/>
                <a:cs typeface="Open Sans Medium"/>
                <a:sym typeface="Open Sans Medium"/>
              </a:rPr>
              <a:t> • SiO₂: ≈6,026 MB vs ≈1,634 MB.</a:t>
            </a:r>
          </a:p>
          <a:p>
            <a:pPr algn="l">
              <a:lnSpc>
                <a:spcPts val="3491"/>
              </a:lnSpc>
            </a:pPr>
            <a:r>
              <a:rPr lang="en-US" sz="2494" b="true">
                <a:solidFill>
                  <a:srgbClr val="000000"/>
                </a:solidFill>
                <a:latin typeface="Open Sans Medium"/>
                <a:ea typeface="Open Sans Medium"/>
                <a:cs typeface="Open Sans Medium"/>
                <a:sym typeface="Open Sans Medium"/>
              </a:rPr>
              <a:t> • cant: 460 MB vs ≈272 MB.</a:t>
            </a:r>
          </a:p>
          <a:p>
            <a:pPr algn="l">
              <a:lnSpc>
                <a:spcPts val="3491"/>
              </a:lnSpc>
            </a:pPr>
            <a:r>
              <a:rPr lang="en-US" sz="2494" b="true">
                <a:solidFill>
                  <a:srgbClr val="000000"/>
                </a:solidFill>
                <a:latin typeface="Open Sans Medium"/>
                <a:ea typeface="Open Sans Medium"/>
                <a:cs typeface="Open Sans Medium"/>
                <a:sym typeface="Open Sans Medium"/>
              </a:rPr>
              <a:t>This advantage comes from avoiding a global intermediate-product buffer. The row-wise method must pre-allocate space for all possible intermediates before knowing the final size, whereas TileSpGEMM keeps intermediates within per-tile shared memory and writes only final outputs to global memory.</a:t>
            </a:r>
          </a:p>
          <a:p>
            <a:pPr algn="l">
              <a:lnSpc>
                <a:spcPts val="3491"/>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083601"/>
            <a:ext cx="4623390" cy="732655"/>
            <a:chOff x="0" y="0"/>
            <a:chExt cx="1217683" cy="192963"/>
          </a:xfrm>
        </p:grpSpPr>
        <p:sp>
          <p:nvSpPr>
            <p:cNvPr name="Freeform 6" id="6"/>
            <p:cNvSpPr/>
            <p:nvPr/>
          </p:nvSpPr>
          <p:spPr>
            <a:xfrm flipH="false" flipV="false" rot="0">
              <a:off x="0" y="0"/>
              <a:ext cx="1217683" cy="192963"/>
            </a:xfrm>
            <a:custGeom>
              <a:avLst/>
              <a:gdLst/>
              <a:ahLst/>
              <a:cxnLst/>
              <a:rect r="r" b="b" t="t" l="l"/>
              <a:pathLst>
                <a:path h="192963" w="1217683">
                  <a:moveTo>
                    <a:pt x="0" y="0"/>
                  </a:moveTo>
                  <a:lnTo>
                    <a:pt x="1217683" y="0"/>
                  </a:lnTo>
                  <a:lnTo>
                    <a:pt x="1217683" y="192963"/>
                  </a:lnTo>
                  <a:lnTo>
                    <a:pt x="0" y="192963"/>
                  </a:lnTo>
                  <a:close/>
                </a:path>
              </a:pathLst>
            </a:custGeom>
            <a:solidFill>
              <a:srgbClr val="C2410A"/>
            </a:solidFill>
          </p:spPr>
        </p:sp>
        <p:sp>
          <p:nvSpPr>
            <p:cNvPr name="TextBox 7" id="7"/>
            <p:cNvSpPr txBox="true"/>
            <p:nvPr/>
          </p:nvSpPr>
          <p:spPr>
            <a:xfrm>
              <a:off x="0" y="-47625"/>
              <a:ext cx="1217683"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Runtime Breakdown</a:t>
              </a:r>
            </a:p>
          </p:txBody>
        </p:sp>
      </p:grpSp>
      <p:sp>
        <p:nvSpPr>
          <p:cNvPr name="Freeform 8" id="8"/>
          <p:cNvSpPr/>
          <p:nvPr/>
        </p:nvSpPr>
        <p:spPr>
          <a:xfrm flipH="false" flipV="false" rot="0">
            <a:off x="494260" y="2012417"/>
            <a:ext cx="17616551" cy="4338076"/>
          </a:xfrm>
          <a:custGeom>
            <a:avLst/>
            <a:gdLst/>
            <a:ahLst/>
            <a:cxnLst/>
            <a:rect r="r" b="b" t="t" l="l"/>
            <a:pathLst>
              <a:path h="4338076" w="17616551">
                <a:moveTo>
                  <a:pt x="0" y="0"/>
                </a:moveTo>
                <a:lnTo>
                  <a:pt x="17616550" y="0"/>
                </a:lnTo>
                <a:lnTo>
                  <a:pt x="17616550" y="4338075"/>
                </a:lnTo>
                <a:lnTo>
                  <a:pt x="0" y="4338075"/>
                </a:lnTo>
                <a:lnTo>
                  <a:pt x="0" y="0"/>
                </a:lnTo>
                <a:close/>
              </a:path>
            </a:pathLst>
          </a:custGeom>
          <a:blipFill>
            <a:blip r:embed="rId2"/>
            <a:stretch>
              <a:fillRect l="0" t="0" r="0" b="0"/>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16</a:t>
            </a:r>
          </a:p>
        </p:txBody>
      </p:sp>
      <p:sp>
        <p:nvSpPr>
          <p:cNvPr name="TextBox 10" id="10"/>
          <p:cNvSpPr txBox="true"/>
          <p:nvPr/>
        </p:nvSpPr>
        <p:spPr>
          <a:xfrm rot="0">
            <a:off x="1028700" y="6293342"/>
            <a:ext cx="17259300" cy="878381"/>
          </a:xfrm>
          <a:prstGeom prst="rect">
            <a:avLst/>
          </a:prstGeom>
        </p:spPr>
        <p:txBody>
          <a:bodyPr anchor="t" rtlCol="false" tIns="0" lIns="0" bIns="0" rIns="0">
            <a:spAutoFit/>
          </a:bodyPr>
          <a:lstStyle/>
          <a:p>
            <a:pPr algn="l">
              <a:lnSpc>
                <a:spcPts val="3536"/>
              </a:lnSpc>
              <a:spcBef>
                <a:spcPct val="0"/>
              </a:spcBef>
            </a:pPr>
            <a:r>
              <a:rPr lang="en-US" b="true" sz="2525">
                <a:solidFill>
                  <a:srgbClr val="000000"/>
                </a:solidFill>
                <a:latin typeface="Open Sans Medium"/>
                <a:ea typeface="Open Sans Medium"/>
                <a:cs typeface="Open Sans Medium"/>
                <a:sym typeface="Open Sans Medium"/>
              </a:rPr>
              <a:t>Fig. 4: Absolute runtime breakdown (ms) of TileSpGEMM into Step 1 (tile structure, red), Step 2 (symbolic bitmask, green), and Step 3 (numeric accumulation, yellow), for C = A².</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083601"/>
            <a:ext cx="4623390" cy="732655"/>
            <a:chOff x="0" y="0"/>
            <a:chExt cx="1217683" cy="192963"/>
          </a:xfrm>
        </p:grpSpPr>
        <p:sp>
          <p:nvSpPr>
            <p:cNvPr name="Freeform 6" id="6"/>
            <p:cNvSpPr/>
            <p:nvPr/>
          </p:nvSpPr>
          <p:spPr>
            <a:xfrm flipH="false" flipV="false" rot="0">
              <a:off x="0" y="0"/>
              <a:ext cx="1217683" cy="192963"/>
            </a:xfrm>
            <a:custGeom>
              <a:avLst/>
              <a:gdLst/>
              <a:ahLst/>
              <a:cxnLst/>
              <a:rect r="r" b="b" t="t" l="l"/>
              <a:pathLst>
                <a:path h="192963" w="1217683">
                  <a:moveTo>
                    <a:pt x="0" y="0"/>
                  </a:moveTo>
                  <a:lnTo>
                    <a:pt x="1217683" y="0"/>
                  </a:lnTo>
                  <a:lnTo>
                    <a:pt x="1217683" y="192963"/>
                  </a:lnTo>
                  <a:lnTo>
                    <a:pt x="0" y="192963"/>
                  </a:lnTo>
                  <a:close/>
                </a:path>
              </a:pathLst>
            </a:custGeom>
            <a:solidFill>
              <a:srgbClr val="C2410A"/>
            </a:solidFill>
          </p:spPr>
        </p:sp>
        <p:sp>
          <p:nvSpPr>
            <p:cNvPr name="TextBox 7" id="7"/>
            <p:cNvSpPr txBox="true"/>
            <p:nvPr/>
          </p:nvSpPr>
          <p:spPr>
            <a:xfrm>
              <a:off x="0" y="-47625"/>
              <a:ext cx="1217683"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Runtime Breakdown</a:t>
              </a:r>
            </a:p>
          </p:txBody>
        </p:sp>
      </p:grpSp>
      <p:sp>
        <p:nvSpPr>
          <p:cNvPr name="Freeform 8" id="8"/>
          <p:cNvSpPr/>
          <p:nvPr/>
        </p:nvSpPr>
        <p:spPr>
          <a:xfrm flipH="false" flipV="false" rot="0">
            <a:off x="0" y="2129025"/>
            <a:ext cx="18288000" cy="3408788"/>
          </a:xfrm>
          <a:custGeom>
            <a:avLst/>
            <a:gdLst/>
            <a:ahLst/>
            <a:cxnLst/>
            <a:rect r="r" b="b" t="t" l="l"/>
            <a:pathLst>
              <a:path h="3408788" w="18288000">
                <a:moveTo>
                  <a:pt x="0" y="0"/>
                </a:moveTo>
                <a:lnTo>
                  <a:pt x="18288000" y="0"/>
                </a:lnTo>
                <a:lnTo>
                  <a:pt x="18288000" y="3408788"/>
                </a:lnTo>
                <a:lnTo>
                  <a:pt x="0" y="3408788"/>
                </a:lnTo>
                <a:lnTo>
                  <a:pt x="0" y="0"/>
                </a:lnTo>
                <a:close/>
              </a:path>
            </a:pathLst>
          </a:custGeom>
          <a:blipFill>
            <a:blip r:embed="rId2"/>
            <a:stretch>
              <a:fillRect l="0" t="-1101" r="0" b="-8209"/>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17</a:t>
            </a:r>
          </a:p>
        </p:txBody>
      </p:sp>
      <p:sp>
        <p:nvSpPr>
          <p:cNvPr name="TextBox 10" id="10"/>
          <p:cNvSpPr txBox="true"/>
          <p:nvPr/>
        </p:nvSpPr>
        <p:spPr>
          <a:xfrm rot="0">
            <a:off x="658478" y="5814038"/>
            <a:ext cx="17629522" cy="35623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Fig. 5: Percentage runtime breakdown of TileSpGEMM (Step 1 red, Step 2 green, Step 3 yellow).</a:t>
            </a:r>
          </a:p>
        </p:txBody>
      </p:sp>
      <p:sp>
        <p:nvSpPr>
          <p:cNvPr name="TextBox 11" id="11"/>
          <p:cNvSpPr txBox="true"/>
          <p:nvPr/>
        </p:nvSpPr>
        <p:spPr>
          <a:xfrm rot="0">
            <a:off x="380036" y="6436973"/>
            <a:ext cx="17907964" cy="3584389"/>
          </a:xfrm>
          <a:prstGeom prst="rect">
            <a:avLst/>
          </a:prstGeom>
        </p:spPr>
        <p:txBody>
          <a:bodyPr anchor="t" rtlCol="false" tIns="0" lIns="0" bIns="0" rIns="0">
            <a:spAutoFit/>
          </a:bodyPr>
          <a:lstStyle/>
          <a:p>
            <a:pPr algn="l">
              <a:lnSpc>
                <a:spcPts val="3202"/>
              </a:lnSpc>
            </a:pPr>
            <a:r>
              <a:rPr lang="en-US" sz="2287" b="true">
                <a:solidFill>
                  <a:srgbClr val="000000"/>
                </a:solidFill>
                <a:latin typeface="Open Sans Medium"/>
                <a:ea typeface="Open Sans Medium"/>
                <a:cs typeface="Open Sans Medium"/>
                <a:sym typeface="Open Sans Medium"/>
              </a:rPr>
              <a:t>Figures 4 and 5 break down TileSpGEMM runtime into three stages.</a:t>
            </a:r>
          </a:p>
          <a:p>
            <a:pPr algn="l">
              <a:lnSpc>
                <a:spcPts val="3202"/>
              </a:lnSpc>
            </a:pPr>
            <a:r>
              <a:rPr lang="en-US" sz="2287" b="true">
                <a:solidFill>
                  <a:srgbClr val="000000"/>
                </a:solidFill>
                <a:latin typeface="Open Sans Medium"/>
                <a:ea typeface="Open Sans Medium"/>
                <a:cs typeface="Open Sans Medium"/>
                <a:sym typeface="Open Sans Medium"/>
              </a:rPr>
              <a:t>Step 1 (tile structure) is negligible, contributing &lt;5% across all matrices, justifying its offload to NSPARSE without further tuning.</a:t>
            </a:r>
          </a:p>
          <a:p>
            <a:pPr algn="l">
              <a:lnSpc>
                <a:spcPts val="3202"/>
              </a:lnSpc>
            </a:pPr>
            <a:r>
              <a:rPr lang="en-US" sz="2287" b="true">
                <a:solidFill>
                  <a:srgbClr val="000000"/>
                </a:solidFill>
                <a:latin typeface="Open Sans Medium"/>
                <a:ea typeface="Open Sans Medium"/>
                <a:cs typeface="Open Sans Medium"/>
                <a:sym typeface="Open Sans Medium"/>
              </a:rPr>
              <a:t>Step 2 (symbolic bitmask phase) typically takes 10–30% of runtime. For high-fanin cases (many tiles per output tile), binary search and bitmask OR dominate. TSOPF_FS_b300_c2 is an outlier (~80%) due to its very high compression rate (66.96×), requiring many tile-pair matches.</a:t>
            </a:r>
          </a:p>
          <a:p>
            <a:pPr algn="l">
              <a:lnSpc>
                <a:spcPts val="3202"/>
              </a:lnSpc>
            </a:pPr>
            <a:r>
              <a:rPr lang="en-US" sz="2287" b="true">
                <a:solidFill>
                  <a:srgbClr val="000000"/>
                </a:solidFill>
                <a:latin typeface="Open Sans Medium"/>
                <a:ea typeface="Open Sans Medium"/>
                <a:cs typeface="Open Sans Medium"/>
                <a:sym typeface="Open Sans Medium"/>
              </a:rPr>
              <a:t>Step 3 (numeric phase) dominates most cases (50–82%), as expected for a compute-bound kernel. The adaptive accumulator mitigates cost: dense tiles use a 256-element shared-memory buffer (avoiding atomics), while sparse tiles use index-based scatter accumulation. For SiO₂, ~82% of its 787 ms runtime lies in Step 3, where most of the 28.5B floating-point operations occur.</a:t>
            </a:r>
          </a:p>
          <a:p>
            <a:pPr algn="l">
              <a:lnSpc>
                <a:spcPts val="3202"/>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345762"/>
            <a:ext cx="7940257" cy="732655"/>
            <a:chOff x="0" y="0"/>
            <a:chExt cx="2091261" cy="192963"/>
          </a:xfrm>
        </p:grpSpPr>
        <p:sp>
          <p:nvSpPr>
            <p:cNvPr name="Freeform 6" id="6"/>
            <p:cNvSpPr/>
            <p:nvPr/>
          </p:nvSpPr>
          <p:spPr>
            <a:xfrm flipH="false" flipV="false" rot="0">
              <a:off x="0" y="0"/>
              <a:ext cx="2091261" cy="192963"/>
            </a:xfrm>
            <a:custGeom>
              <a:avLst/>
              <a:gdLst/>
              <a:ahLst/>
              <a:cxnLst/>
              <a:rect r="r" b="b" t="t" l="l"/>
              <a:pathLst>
                <a:path h="192963" w="2091261">
                  <a:moveTo>
                    <a:pt x="0" y="0"/>
                  </a:moveTo>
                  <a:lnTo>
                    <a:pt x="2091261" y="0"/>
                  </a:lnTo>
                  <a:lnTo>
                    <a:pt x="2091261" y="192963"/>
                  </a:lnTo>
                  <a:lnTo>
                    <a:pt x="0" y="192963"/>
                  </a:lnTo>
                  <a:close/>
                </a:path>
              </a:pathLst>
            </a:custGeom>
            <a:solidFill>
              <a:srgbClr val="C2410A"/>
            </a:solidFill>
          </p:spPr>
        </p:sp>
        <p:sp>
          <p:nvSpPr>
            <p:cNvPr name="TextBox 7" id="7"/>
            <p:cNvSpPr txBox="true"/>
            <p:nvPr/>
          </p:nvSpPr>
          <p:spPr>
            <a:xfrm>
              <a:off x="0" y="-47625"/>
              <a:ext cx="2091261"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Tiled Format Storage Overhead vs. CSR</a:t>
              </a:r>
            </a:p>
          </p:txBody>
        </p:sp>
      </p:grpSp>
      <p:sp>
        <p:nvSpPr>
          <p:cNvPr name="Freeform 8" id="8"/>
          <p:cNvSpPr/>
          <p:nvPr/>
        </p:nvSpPr>
        <p:spPr>
          <a:xfrm flipH="false" flipV="false" rot="0">
            <a:off x="380036" y="2361480"/>
            <a:ext cx="17907964" cy="3671133"/>
          </a:xfrm>
          <a:custGeom>
            <a:avLst/>
            <a:gdLst/>
            <a:ahLst/>
            <a:cxnLst/>
            <a:rect r="r" b="b" t="t" l="l"/>
            <a:pathLst>
              <a:path h="3671133" w="17907964">
                <a:moveTo>
                  <a:pt x="0" y="0"/>
                </a:moveTo>
                <a:lnTo>
                  <a:pt x="17907964" y="0"/>
                </a:lnTo>
                <a:lnTo>
                  <a:pt x="17907964" y="3671132"/>
                </a:lnTo>
                <a:lnTo>
                  <a:pt x="0" y="3671132"/>
                </a:lnTo>
                <a:lnTo>
                  <a:pt x="0" y="0"/>
                </a:lnTo>
                <a:close/>
              </a:path>
            </a:pathLst>
          </a:custGeom>
          <a:blipFill>
            <a:blip r:embed="rId2"/>
            <a:stretch>
              <a:fillRect l="0" t="0" r="0" b="0"/>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16</a:t>
            </a:r>
          </a:p>
        </p:txBody>
      </p:sp>
      <p:sp>
        <p:nvSpPr>
          <p:cNvPr name="TextBox 10" id="10"/>
          <p:cNvSpPr txBox="true"/>
          <p:nvPr/>
        </p:nvSpPr>
        <p:spPr>
          <a:xfrm rot="0">
            <a:off x="658478" y="5994512"/>
            <a:ext cx="17629522" cy="727710"/>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ns Medium"/>
                <a:ea typeface="Open Sans Medium"/>
                <a:cs typeface="Open Sans Medium"/>
                <a:sym typeface="Open Sans Medium"/>
              </a:rPr>
              <a:t>Fig. 6: Storage size comparison between standard CSR format (blue) </a:t>
            </a:r>
            <a:r>
              <a:rPr lang="en-US" sz="2100" b="true">
                <a:solidFill>
                  <a:srgbClr val="000000"/>
                </a:solidFill>
                <a:latin typeface="Open Sans Medium"/>
                <a:ea typeface="Open Sans Medium"/>
                <a:cs typeface="Open Sans Medium"/>
                <a:sym typeface="Open Sans Medium"/>
              </a:rPr>
              <a:t>and the TileSpGEMM tiled sparse format (orange) for input matrices.</a:t>
            </a:r>
          </a:p>
          <a:p>
            <a:pPr algn="l">
              <a:lnSpc>
                <a:spcPts val="2940"/>
              </a:lnSpc>
              <a:spcBef>
                <a:spcPct val="0"/>
              </a:spcBef>
            </a:pPr>
            <a:r>
              <a:rPr lang="en-US" b="true" sz="2100">
                <a:solidFill>
                  <a:srgbClr val="000000"/>
                </a:solidFill>
                <a:latin typeface="Open Sans Medium"/>
                <a:ea typeface="Open Sans Medium"/>
                <a:cs typeface="Open Sans Medium"/>
                <a:sym typeface="Open Sans Medium"/>
              </a:rPr>
              <a:t>Values annotated in MB.</a:t>
            </a:r>
          </a:p>
        </p:txBody>
      </p:sp>
      <p:sp>
        <p:nvSpPr>
          <p:cNvPr name="TextBox 11" id="11"/>
          <p:cNvSpPr txBox="true"/>
          <p:nvPr/>
        </p:nvSpPr>
        <p:spPr>
          <a:xfrm rot="0">
            <a:off x="380036" y="6960347"/>
            <a:ext cx="17907964" cy="3189605"/>
          </a:xfrm>
          <a:prstGeom prst="rect">
            <a:avLst/>
          </a:prstGeom>
        </p:spPr>
        <p:txBody>
          <a:bodyPr anchor="t" rtlCol="false" tIns="0" lIns="0" bIns="0" rIns="0">
            <a:spAutoFit/>
          </a:bodyPr>
          <a:lstStyle/>
          <a:p>
            <a:pPr algn="l">
              <a:lnSpc>
                <a:spcPts val="3219"/>
              </a:lnSpc>
            </a:pPr>
            <a:r>
              <a:rPr lang="en-US" sz="2299" b="true">
                <a:solidFill>
                  <a:srgbClr val="000000"/>
                </a:solidFill>
                <a:latin typeface="Open Sans Medium"/>
                <a:ea typeface="Open Sans Medium"/>
                <a:cs typeface="Open Sans Medium"/>
                <a:sym typeface="Open Sans Medium"/>
              </a:rPr>
              <a:t>Figure 6 compares the static storage size of the tiled format with standard CSR. For most matrices, the tiled format is equal to or smaller than CSR, mainly because local tile indices use 8 bits instead of 32-bit global CSR column indices, saving ~3 bytes per nonzero in dense tiles.</a:t>
            </a:r>
          </a:p>
          <a:p>
            <a:pPr algn="l">
              <a:lnSpc>
                <a:spcPts val="3219"/>
              </a:lnSpc>
            </a:pPr>
            <a:r>
              <a:rPr lang="en-US" sz="2299" b="true">
                <a:solidFill>
                  <a:srgbClr val="000000"/>
                </a:solidFill>
                <a:latin typeface="Open Sans Medium"/>
                <a:ea typeface="Open Sans Medium"/>
                <a:cs typeface="Open Sans Medium"/>
                <a:sym typeface="Open Sans Medium"/>
              </a:rPr>
              <a:t>The exception is af_shell10, where the tiled format is somewhat larger (≈638 MB vs ≈572 MB for CSR). This matrix contains many sparsely filled tiles, so overhead from per-tile metadata (rowPtr ~16 bytes and mask ~32 bytes) becomes significant when occupancy is low.</a:t>
            </a:r>
          </a:p>
          <a:p>
            <a:pPr algn="l">
              <a:lnSpc>
                <a:spcPts val="3219"/>
              </a:lnSpc>
              <a:spcBef>
                <a:spcPct val="0"/>
              </a:spcBef>
            </a:pPr>
            <a:r>
              <a:rPr lang="en-US" b="true" sz="2299">
                <a:solidFill>
                  <a:srgbClr val="000000"/>
                </a:solidFill>
                <a:latin typeface="Open Sans Medium"/>
                <a:ea typeface="Open Sans Medium"/>
                <a:cs typeface="Open Sans Medium"/>
                <a:sym typeface="Open Sans Medium"/>
              </a:rPr>
              <a:t>Overall, the tiled format remains competitive with CSR in static size, while its peak runtime memory advantage (Section V-C) is significant regardless of this overhead.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345762"/>
            <a:ext cx="7940257" cy="732655"/>
            <a:chOff x="0" y="0"/>
            <a:chExt cx="2091261" cy="192963"/>
          </a:xfrm>
        </p:grpSpPr>
        <p:sp>
          <p:nvSpPr>
            <p:cNvPr name="Freeform 6" id="6"/>
            <p:cNvSpPr/>
            <p:nvPr/>
          </p:nvSpPr>
          <p:spPr>
            <a:xfrm flipH="false" flipV="false" rot="0">
              <a:off x="0" y="0"/>
              <a:ext cx="2091261" cy="192963"/>
            </a:xfrm>
            <a:custGeom>
              <a:avLst/>
              <a:gdLst/>
              <a:ahLst/>
              <a:cxnLst/>
              <a:rect r="r" b="b" t="t" l="l"/>
              <a:pathLst>
                <a:path h="192963" w="2091261">
                  <a:moveTo>
                    <a:pt x="0" y="0"/>
                  </a:moveTo>
                  <a:lnTo>
                    <a:pt x="2091261" y="0"/>
                  </a:lnTo>
                  <a:lnTo>
                    <a:pt x="2091261" y="192963"/>
                  </a:lnTo>
                  <a:lnTo>
                    <a:pt x="0" y="192963"/>
                  </a:lnTo>
                  <a:close/>
                </a:path>
              </a:pathLst>
            </a:custGeom>
            <a:solidFill>
              <a:srgbClr val="C2410A"/>
            </a:solidFill>
          </p:spPr>
        </p:sp>
        <p:sp>
          <p:nvSpPr>
            <p:cNvPr name="TextBox 7" id="7"/>
            <p:cNvSpPr txBox="true"/>
            <p:nvPr/>
          </p:nvSpPr>
          <p:spPr>
            <a:xfrm>
              <a:off x="0" y="-47625"/>
              <a:ext cx="2091261"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Format Conversion Cost Amortisation</a:t>
              </a:r>
            </a:p>
          </p:txBody>
        </p:sp>
      </p:grpSp>
      <p:sp>
        <p:nvSpPr>
          <p:cNvPr name="Freeform 8" id="8"/>
          <p:cNvSpPr/>
          <p:nvPr/>
        </p:nvSpPr>
        <p:spPr>
          <a:xfrm flipH="false" flipV="false" rot="0">
            <a:off x="9045021" y="2078417"/>
            <a:ext cx="9242979" cy="5729821"/>
          </a:xfrm>
          <a:custGeom>
            <a:avLst/>
            <a:gdLst/>
            <a:ahLst/>
            <a:cxnLst/>
            <a:rect r="r" b="b" t="t" l="l"/>
            <a:pathLst>
              <a:path h="5729821" w="9242979">
                <a:moveTo>
                  <a:pt x="0" y="0"/>
                </a:moveTo>
                <a:lnTo>
                  <a:pt x="9242979" y="0"/>
                </a:lnTo>
                <a:lnTo>
                  <a:pt x="9242979" y="5729821"/>
                </a:lnTo>
                <a:lnTo>
                  <a:pt x="0" y="5729821"/>
                </a:lnTo>
                <a:lnTo>
                  <a:pt x="0" y="0"/>
                </a:lnTo>
                <a:close/>
              </a:path>
            </a:pathLst>
          </a:custGeom>
          <a:blipFill>
            <a:blip r:embed="rId2"/>
            <a:stretch>
              <a:fillRect l="0" t="0" r="-1003" b="0"/>
            </a:stretch>
          </a:blipFill>
        </p:spPr>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16</a:t>
            </a:r>
          </a:p>
        </p:txBody>
      </p:sp>
      <p:sp>
        <p:nvSpPr>
          <p:cNvPr name="TextBox 10" id="10"/>
          <p:cNvSpPr txBox="true"/>
          <p:nvPr/>
        </p:nvSpPr>
        <p:spPr>
          <a:xfrm rot="0">
            <a:off x="9045021" y="7770138"/>
            <a:ext cx="8397962" cy="10991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ns Medium"/>
                <a:ea typeface="Open Sans Medium"/>
                <a:cs typeface="Open Sans Medium"/>
                <a:sym typeface="Open Sans Medium"/>
              </a:rPr>
              <a:t>Fig. 7: CSR→Tiled conversion time (blue circles) vs. single Tile</a:t>
            </a:r>
            <a:r>
              <a:rPr lang="en-US" b="true" sz="2100">
                <a:solidFill>
                  <a:srgbClr val="000000"/>
                </a:solidFill>
                <a:latin typeface="Open Sans Medium"/>
                <a:ea typeface="Open Sans Medium"/>
                <a:cs typeface="Open Sans Medium"/>
                <a:sym typeface="Open Sans Medium"/>
              </a:rPr>
              <a:t>SpGEMM runtime (orange triangles) on a log10 scale vs. #flops of C = A².</a:t>
            </a:r>
          </a:p>
        </p:txBody>
      </p:sp>
      <p:sp>
        <p:nvSpPr>
          <p:cNvPr name="TextBox 11" id="11"/>
          <p:cNvSpPr txBox="true"/>
          <p:nvPr/>
        </p:nvSpPr>
        <p:spPr>
          <a:xfrm rot="0">
            <a:off x="9525" y="2924853"/>
            <a:ext cx="9035496" cy="5227320"/>
          </a:xfrm>
          <a:prstGeom prst="rect">
            <a:avLst/>
          </a:prstGeom>
        </p:spPr>
        <p:txBody>
          <a:bodyPr anchor="t" rtlCol="false" tIns="0" lIns="0" bIns="0" rIns="0">
            <a:spAutoFit/>
          </a:bodyPr>
          <a:lstStyle/>
          <a:p>
            <a:pPr algn="l">
              <a:lnSpc>
                <a:spcPts val="3779"/>
              </a:lnSpc>
              <a:spcBef>
                <a:spcPct val="0"/>
              </a:spcBef>
            </a:pPr>
            <a:r>
              <a:rPr lang="en-US" b="true" sz="2699">
                <a:solidFill>
                  <a:srgbClr val="000000"/>
                </a:solidFill>
                <a:latin typeface="Open Sans Medium"/>
                <a:ea typeface="Open Sans Medium"/>
                <a:cs typeface="Open Sans Medium"/>
                <a:sym typeface="Open Sans Medium"/>
              </a:rPr>
              <a:t>Figure 7 plots the one-time CSR-to-tiled format conversion </a:t>
            </a:r>
            <a:r>
              <a:rPr lang="en-US" b="true" sz="2699">
                <a:solidFill>
                  <a:srgbClr val="000000"/>
                </a:solidFill>
                <a:latin typeface="Open Sans Medium"/>
                <a:ea typeface="Open Sans Medium"/>
                <a:cs typeface="Open Sans Medium"/>
                <a:sym typeface="Open Sans Medium"/>
              </a:rPr>
              <a:t>cost against a single SpGEMM invocation time, both on a log10 scale. The conversion cost is generally 2–10× the SpGEMM runtime, meaning the tiled format break-even point is reached after 2–10 SpGEMM calls on the same matrix. In iterative solvers (e.g., AMG), the same matrix may be multiplied hundreds of times, fully amortising the conversion overhead. For single-shot computations, the overhead may not be warranted for small matrices (below 107 flops), but becomes negligible at larger scales.</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083601"/>
            <a:ext cx="4623390" cy="732655"/>
            <a:chOff x="0" y="0"/>
            <a:chExt cx="1217683" cy="192963"/>
          </a:xfrm>
        </p:grpSpPr>
        <p:sp>
          <p:nvSpPr>
            <p:cNvPr name="Freeform 6" id="6"/>
            <p:cNvSpPr/>
            <p:nvPr/>
          </p:nvSpPr>
          <p:spPr>
            <a:xfrm flipH="false" flipV="false" rot="0">
              <a:off x="0" y="0"/>
              <a:ext cx="1217683" cy="192963"/>
            </a:xfrm>
            <a:custGeom>
              <a:avLst/>
              <a:gdLst/>
              <a:ahLst/>
              <a:cxnLst/>
              <a:rect r="r" b="b" t="t" l="l"/>
              <a:pathLst>
                <a:path h="192963" w="1217683">
                  <a:moveTo>
                    <a:pt x="0" y="0"/>
                  </a:moveTo>
                  <a:lnTo>
                    <a:pt x="1217683" y="0"/>
                  </a:lnTo>
                  <a:lnTo>
                    <a:pt x="1217683" y="192963"/>
                  </a:lnTo>
                  <a:lnTo>
                    <a:pt x="0" y="192963"/>
                  </a:lnTo>
                  <a:close/>
                </a:path>
              </a:pathLst>
            </a:custGeom>
            <a:solidFill>
              <a:srgbClr val="C2410A"/>
            </a:solidFill>
          </p:spPr>
        </p:sp>
        <p:sp>
          <p:nvSpPr>
            <p:cNvPr name="TextBox 7" id="7"/>
            <p:cNvSpPr txBox="true"/>
            <p:nvPr/>
          </p:nvSpPr>
          <p:spPr>
            <a:xfrm>
              <a:off x="0" y="-47625"/>
              <a:ext cx="1217683"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Scalability &amp; Limitations</a:t>
              </a:r>
            </a:p>
          </p:txBody>
        </p:sp>
      </p:grpSp>
      <p:sp>
        <p:nvSpPr>
          <p:cNvPr name="TextBox 8" id="8"/>
          <p:cNvSpPr txBox="true"/>
          <p:nvPr/>
        </p:nvSpPr>
        <p:spPr>
          <a:xfrm rot="0">
            <a:off x="266044" y="2269804"/>
            <a:ext cx="17301006" cy="4541520"/>
          </a:xfrm>
          <a:prstGeom prst="rect">
            <a:avLst/>
          </a:prstGeom>
        </p:spPr>
        <p:txBody>
          <a:bodyPr anchor="t" rtlCol="false" tIns="0" lIns="0" bIns="0" rIns="0">
            <a:spAutoFit/>
          </a:bodyPr>
          <a:lstStyle/>
          <a:p>
            <a:pPr algn="l">
              <a:lnSpc>
                <a:spcPts val="4516"/>
              </a:lnSpc>
            </a:pPr>
            <a:r>
              <a:rPr lang="en-US" sz="3226" b="true">
                <a:solidFill>
                  <a:srgbClr val="000000"/>
                </a:solidFill>
                <a:latin typeface="Open Sans Medium"/>
                <a:ea typeface="Open Sans Medium"/>
                <a:cs typeface="Open Sans Medium"/>
                <a:sym typeface="Open Sans Medium"/>
              </a:rPr>
              <a:t>•Slightly lower scaling due to memory overhead</a:t>
            </a:r>
          </a:p>
          <a:p>
            <a:pPr algn="l">
              <a:lnSpc>
                <a:spcPts val="4516"/>
              </a:lnSpc>
            </a:pPr>
            <a:r>
              <a:rPr lang="en-US" sz="3226" b="true">
                <a:solidFill>
                  <a:srgbClr val="000000"/>
                </a:solidFill>
                <a:latin typeface="Open Sans Medium"/>
                <a:ea typeface="Open Sans Medium"/>
                <a:cs typeface="Open Sans Medium"/>
                <a:sym typeface="Open Sans Medium"/>
              </a:rPr>
              <a:t>•Overhead of converting a CSR matrix to </a:t>
            </a:r>
          </a:p>
          <a:p>
            <a:pPr algn="l">
              <a:lnSpc>
                <a:spcPts val="4516"/>
              </a:lnSpc>
            </a:pPr>
            <a:r>
              <a:rPr lang="en-US" sz="3226" b="true">
                <a:solidFill>
                  <a:srgbClr val="000000"/>
                </a:solidFill>
                <a:latin typeface="Open Sans Medium"/>
                <a:ea typeface="Open Sans Medium"/>
                <a:cs typeface="Open Sans Medium"/>
                <a:sym typeface="Open Sans Medium"/>
              </a:rPr>
              <a:t>   tiled data structure</a:t>
            </a:r>
          </a:p>
          <a:p>
            <a:pPr algn="l">
              <a:lnSpc>
                <a:spcPts val="4516"/>
              </a:lnSpc>
            </a:pPr>
            <a:r>
              <a:rPr lang="en-US" sz="3226" b="true">
                <a:solidFill>
                  <a:srgbClr val="000000"/>
                </a:solidFill>
                <a:latin typeface="Open Sans Medium"/>
                <a:ea typeface="Open Sans Medium"/>
                <a:cs typeface="Open Sans Medium"/>
                <a:sym typeface="Open Sans Medium"/>
              </a:rPr>
              <a:t>•Very sparse matrices reduce performance</a:t>
            </a:r>
          </a:p>
          <a:p>
            <a:pPr algn="l">
              <a:lnSpc>
                <a:spcPts val="4516"/>
              </a:lnSpc>
            </a:pPr>
            <a:r>
              <a:rPr lang="en-US" sz="3226" b="true">
                <a:solidFill>
                  <a:srgbClr val="000000"/>
                </a:solidFill>
                <a:latin typeface="Open Sans Medium"/>
                <a:ea typeface="Open Sans Medium"/>
                <a:cs typeface="Open Sans Medium"/>
                <a:sym typeface="Open Sans Medium"/>
              </a:rPr>
              <a:t>•Tile management overhead exists</a:t>
            </a:r>
          </a:p>
          <a:p>
            <a:pPr algn="l">
              <a:lnSpc>
                <a:spcPts val="4516"/>
              </a:lnSpc>
            </a:pPr>
            <a:r>
              <a:rPr lang="en-US" sz="3226" b="true">
                <a:solidFill>
                  <a:srgbClr val="000000"/>
                </a:solidFill>
                <a:latin typeface="Open Sans Medium"/>
                <a:ea typeface="Open Sans Medium"/>
                <a:cs typeface="Open Sans Medium"/>
                <a:sym typeface="Open Sans Medium"/>
              </a:rPr>
              <a:t>•Best overall performance across datasets</a:t>
            </a:r>
          </a:p>
          <a:p>
            <a:pPr algn="l">
              <a:lnSpc>
                <a:spcPts val="4516"/>
              </a:lnSpc>
            </a:pPr>
            <a:r>
              <a:rPr lang="en-US" sz="3226" b="true">
                <a:solidFill>
                  <a:srgbClr val="000000"/>
                </a:solidFill>
                <a:latin typeface="Open Sans Medium"/>
                <a:ea typeface="Open Sans Medium"/>
                <a:cs typeface="Open Sans Medium"/>
                <a:sym typeface="Open Sans Medium"/>
              </a:rPr>
              <a:t>•Efficient memory usage and load balancing</a:t>
            </a:r>
          </a:p>
          <a:p>
            <a:pPr algn="l">
              <a:lnSpc>
                <a:spcPts val="4516"/>
              </a:lnSpc>
              <a:spcBef>
                <a:spcPct val="0"/>
              </a:spcBef>
            </a:pPr>
          </a:p>
        </p:txBody>
      </p:sp>
      <p:sp>
        <p:nvSpPr>
          <p:cNvPr name="TextBox 9" id="9"/>
          <p:cNvSpPr txBox="true"/>
          <p:nvPr/>
        </p:nvSpPr>
        <p:spPr>
          <a:xfrm rot="0">
            <a:off x="15882727" y="990600"/>
            <a:ext cx="1376573"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17</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82727" y="821440"/>
            <a:ext cx="2405273" cy="732655"/>
            <a:chOff x="0" y="0"/>
            <a:chExt cx="633488" cy="192963"/>
          </a:xfrm>
        </p:grpSpPr>
        <p:sp>
          <p:nvSpPr>
            <p:cNvPr name="Freeform 3" id="3"/>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4" id="4"/>
            <p:cNvSpPr txBox="true"/>
            <p:nvPr/>
          </p:nvSpPr>
          <p:spPr>
            <a:xfrm>
              <a:off x="0" y="-38100"/>
              <a:ext cx="633488" cy="23106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9525" y="1083601"/>
            <a:ext cx="4623390" cy="732655"/>
            <a:chOff x="0" y="0"/>
            <a:chExt cx="1217683" cy="192963"/>
          </a:xfrm>
        </p:grpSpPr>
        <p:sp>
          <p:nvSpPr>
            <p:cNvPr name="Freeform 6" id="6"/>
            <p:cNvSpPr/>
            <p:nvPr/>
          </p:nvSpPr>
          <p:spPr>
            <a:xfrm flipH="false" flipV="false" rot="0">
              <a:off x="0" y="0"/>
              <a:ext cx="1217683" cy="192963"/>
            </a:xfrm>
            <a:custGeom>
              <a:avLst/>
              <a:gdLst/>
              <a:ahLst/>
              <a:cxnLst/>
              <a:rect r="r" b="b" t="t" l="l"/>
              <a:pathLst>
                <a:path h="192963" w="1217683">
                  <a:moveTo>
                    <a:pt x="0" y="0"/>
                  </a:moveTo>
                  <a:lnTo>
                    <a:pt x="1217683" y="0"/>
                  </a:lnTo>
                  <a:lnTo>
                    <a:pt x="1217683" y="192963"/>
                  </a:lnTo>
                  <a:lnTo>
                    <a:pt x="0" y="192963"/>
                  </a:lnTo>
                  <a:close/>
                </a:path>
              </a:pathLst>
            </a:custGeom>
            <a:solidFill>
              <a:srgbClr val="C2410A"/>
            </a:solidFill>
          </p:spPr>
        </p:sp>
        <p:sp>
          <p:nvSpPr>
            <p:cNvPr name="TextBox 7" id="7"/>
            <p:cNvSpPr txBox="true"/>
            <p:nvPr/>
          </p:nvSpPr>
          <p:spPr>
            <a:xfrm>
              <a:off x="0" y="-47625"/>
              <a:ext cx="1217683" cy="240588"/>
            </a:xfrm>
            <a:prstGeom prst="rect">
              <a:avLst/>
            </a:prstGeom>
          </p:spPr>
          <p:txBody>
            <a:bodyPr anchor="ctr" rtlCol="false" tIns="50800" lIns="50800" bIns="50800" rIns="50800"/>
            <a:lstStyle/>
            <a:p>
              <a:pPr algn="ctr">
                <a:lnSpc>
                  <a:spcPts val="4326"/>
                </a:lnSpc>
              </a:pPr>
              <a:r>
                <a:rPr lang="en-US" b="true" sz="3090">
                  <a:solidFill>
                    <a:srgbClr val="FFFFFF"/>
                  </a:solidFill>
                  <a:latin typeface="Open Sans Medium"/>
                  <a:ea typeface="Open Sans Medium"/>
                  <a:cs typeface="Open Sans Medium"/>
                  <a:sym typeface="Open Sans Medium"/>
                </a:rPr>
                <a:t>Conclusion</a:t>
              </a:r>
            </a:p>
          </p:txBody>
        </p:sp>
      </p:grpSp>
      <p:sp>
        <p:nvSpPr>
          <p:cNvPr name="TextBox 8" id="8"/>
          <p:cNvSpPr txBox="true"/>
          <p:nvPr/>
        </p:nvSpPr>
        <p:spPr>
          <a:xfrm rot="0">
            <a:off x="16273314" y="990600"/>
            <a:ext cx="985986" cy="356235"/>
          </a:xfrm>
          <a:prstGeom prst="rect">
            <a:avLst/>
          </a:prstGeom>
        </p:spPr>
        <p:txBody>
          <a:bodyPr anchor="t" rtlCol="false" tIns="0" lIns="0" bIns="0" rIns="0">
            <a:spAutoFit/>
          </a:bodyPr>
          <a:lstStyle/>
          <a:p>
            <a:pPr algn="r">
              <a:lnSpc>
                <a:spcPts val="2940"/>
              </a:lnSpc>
              <a:spcBef>
                <a:spcPct val="0"/>
              </a:spcBef>
            </a:pPr>
            <a:r>
              <a:rPr lang="en-US" b="true" sz="2100">
                <a:solidFill>
                  <a:srgbClr val="FFFFFF"/>
                </a:solidFill>
                <a:latin typeface="Open Sans Medium"/>
                <a:ea typeface="Open Sans Medium"/>
                <a:cs typeface="Open Sans Medium"/>
                <a:sym typeface="Open Sans Medium"/>
              </a:rPr>
              <a:t>Page 18</a:t>
            </a:r>
          </a:p>
        </p:txBody>
      </p:sp>
      <p:sp>
        <p:nvSpPr>
          <p:cNvPr name="TextBox 9" id="9"/>
          <p:cNvSpPr txBox="true"/>
          <p:nvPr/>
        </p:nvSpPr>
        <p:spPr>
          <a:xfrm rot="0">
            <a:off x="1028700" y="3281795"/>
            <a:ext cx="16230600" cy="4155140"/>
          </a:xfrm>
          <a:prstGeom prst="rect">
            <a:avLst/>
          </a:prstGeom>
        </p:spPr>
        <p:txBody>
          <a:bodyPr anchor="t" rtlCol="false" tIns="0" lIns="0" bIns="0" rIns="0">
            <a:spAutoFit/>
          </a:bodyPr>
          <a:lstStyle/>
          <a:p>
            <a:pPr algn="l">
              <a:lnSpc>
                <a:spcPts val="5522"/>
              </a:lnSpc>
            </a:pPr>
            <a:r>
              <a:rPr lang="en-US" sz="3944" b="true">
                <a:solidFill>
                  <a:srgbClr val="000000"/>
                </a:solidFill>
                <a:latin typeface="Open Sans Medium"/>
                <a:ea typeface="Open Sans Medium"/>
                <a:cs typeface="Open Sans Medium"/>
                <a:sym typeface="Open Sans Medium"/>
              </a:rPr>
              <a:t>•TileSpGEMM: Tiled SpGEMM using sparse tiles (not rows) </a:t>
            </a:r>
          </a:p>
          <a:p>
            <a:pPr algn="l">
              <a:lnSpc>
                <a:spcPts val="5522"/>
              </a:lnSpc>
            </a:pPr>
            <a:r>
              <a:rPr lang="en-US" sz="3944" b="true">
                <a:solidFill>
                  <a:srgbClr val="000000"/>
                </a:solidFill>
                <a:latin typeface="Open Sans Medium"/>
                <a:ea typeface="Open Sans Medium"/>
                <a:cs typeface="Open Sans Medium"/>
                <a:sym typeface="Open Sans Medium"/>
              </a:rPr>
              <a:t>•Solves: Load imbalance, high memory use, inefficient accumulators </a:t>
            </a:r>
          </a:p>
          <a:p>
            <a:pPr algn="l">
              <a:lnSpc>
                <a:spcPts val="5522"/>
              </a:lnSpc>
            </a:pPr>
            <a:r>
              <a:rPr lang="en-US" sz="3944" b="true">
                <a:solidFill>
                  <a:srgbClr val="000000"/>
                </a:solidFill>
                <a:latin typeface="Open Sans Medium"/>
                <a:ea typeface="Open Sans Medium"/>
                <a:cs typeface="Open Sans Medium"/>
                <a:sym typeface="Open Sans Medium"/>
              </a:rPr>
              <a:t>•Design: Tiled structure + 3-step algorithm </a:t>
            </a:r>
          </a:p>
          <a:p>
            <a:pPr algn="l">
              <a:lnSpc>
                <a:spcPts val="5522"/>
              </a:lnSpc>
            </a:pPr>
            <a:r>
              <a:rPr lang="en-US" sz="3944" b="true">
                <a:solidFill>
                  <a:srgbClr val="000000"/>
                </a:solidFill>
                <a:latin typeface="Open Sans Medium"/>
                <a:ea typeface="Open Sans Medium"/>
                <a:cs typeface="Open Sans Medium"/>
                <a:sym typeface="Open Sans Medium"/>
              </a:rPr>
              <a:t>•Performance: Faster, scalable, handles large matrices </a:t>
            </a:r>
          </a:p>
          <a:p>
            <a:pPr algn="l">
              <a:lnSpc>
                <a:spcPts val="5522"/>
              </a:lnSpc>
            </a:pPr>
            <a:r>
              <a:rPr lang="en-US" sz="3944" b="true">
                <a:solidFill>
                  <a:srgbClr val="000000"/>
                </a:solidFill>
                <a:latin typeface="Open Sans Medium"/>
                <a:ea typeface="Open Sans Medium"/>
                <a:cs typeface="Open Sans Medium"/>
                <a:sym typeface="Open Sans Medium"/>
              </a:rPr>
              <a:t>•Memory: Lower usage, shared memory, better locality</a:t>
            </a:r>
          </a:p>
          <a:p>
            <a:pPr algn="l">
              <a:lnSpc>
                <a:spcPts val="5522"/>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835541" y="2096190"/>
            <a:ext cx="8616919" cy="4381500"/>
          </a:xfrm>
          <a:prstGeom prst="rect">
            <a:avLst/>
          </a:prstGeom>
        </p:spPr>
        <p:txBody>
          <a:bodyPr anchor="t" rtlCol="false" tIns="0" lIns="0" bIns="0" rIns="0">
            <a:spAutoFit/>
          </a:bodyPr>
          <a:lstStyle/>
          <a:p>
            <a:pPr algn="ctr">
              <a:lnSpc>
                <a:spcPts val="11519"/>
              </a:lnSpc>
            </a:pPr>
            <a:r>
              <a:rPr lang="en-US" sz="9600" b="true">
                <a:solidFill>
                  <a:srgbClr val="FFFFFF"/>
                </a:solidFill>
                <a:latin typeface="Open Sauce Bold"/>
                <a:ea typeface="Open Sauce Bold"/>
                <a:cs typeface="Open Sauce Bold"/>
                <a:sym typeface="Open Sauce Bold"/>
              </a:rPr>
              <a:t>Thank You</a:t>
            </a:r>
          </a:p>
          <a:p>
            <a:pPr algn="ctr">
              <a:lnSpc>
                <a:spcPts val="11519"/>
              </a:lnSpc>
            </a:pPr>
          </a:p>
          <a:p>
            <a:pPr algn="ctr">
              <a:lnSpc>
                <a:spcPts val="11519"/>
              </a:lnSpc>
            </a:pPr>
            <a:r>
              <a:rPr lang="en-US" sz="9600" b="true">
                <a:solidFill>
                  <a:srgbClr val="FFFFFF"/>
                </a:solidFill>
                <a:latin typeface="Open Sauce Bold"/>
                <a:ea typeface="Open Sauce Bold"/>
                <a:cs typeface="Open Sauce Bold"/>
                <a:sym typeface="Open Sauce Bold"/>
              </a:rPr>
              <a:t>Questions ?</a:t>
            </a:r>
          </a:p>
        </p:txBody>
      </p:sp>
      <p:grpSp>
        <p:nvGrpSpPr>
          <p:cNvPr name="Group 4" id="4"/>
          <p:cNvGrpSpPr/>
          <p:nvPr/>
        </p:nvGrpSpPr>
        <p:grpSpPr>
          <a:xfrm rot="0">
            <a:off x="15882727" y="821440"/>
            <a:ext cx="2405273" cy="732655"/>
            <a:chOff x="0" y="0"/>
            <a:chExt cx="633488" cy="192963"/>
          </a:xfrm>
        </p:grpSpPr>
        <p:sp>
          <p:nvSpPr>
            <p:cNvPr name="Freeform 5" id="5"/>
            <p:cNvSpPr/>
            <p:nvPr/>
          </p:nvSpPr>
          <p:spPr>
            <a:xfrm flipH="false" flipV="false" rot="0">
              <a:off x="0" y="0"/>
              <a:ext cx="633488" cy="192963"/>
            </a:xfrm>
            <a:custGeom>
              <a:avLst/>
              <a:gdLst/>
              <a:ahLst/>
              <a:cxnLst/>
              <a:rect r="r" b="b" t="t" l="l"/>
              <a:pathLst>
                <a:path h="192963" w="633488">
                  <a:moveTo>
                    <a:pt x="0" y="0"/>
                  </a:moveTo>
                  <a:lnTo>
                    <a:pt x="633488" y="0"/>
                  </a:lnTo>
                  <a:lnTo>
                    <a:pt x="633488" y="192963"/>
                  </a:lnTo>
                  <a:lnTo>
                    <a:pt x="0" y="192963"/>
                  </a:lnTo>
                  <a:close/>
                </a:path>
              </a:pathLst>
            </a:custGeom>
            <a:solidFill>
              <a:srgbClr val="C2410A"/>
            </a:solidFill>
          </p:spPr>
        </p:sp>
        <p:sp>
          <p:nvSpPr>
            <p:cNvPr name="TextBox 6" id="6"/>
            <p:cNvSpPr txBox="true"/>
            <p:nvPr/>
          </p:nvSpPr>
          <p:spPr>
            <a:xfrm>
              <a:off x="0" y="-38100"/>
              <a:ext cx="633488" cy="231063"/>
            </a:xfrm>
            <a:prstGeom prst="rect">
              <a:avLst/>
            </a:prstGeom>
          </p:spPr>
          <p:txBody>
            <a:bodyPr anchor="ctr" rtlCol="false" tIns="50800" lIns="50800" bIns="50800" rIns="50800"/>
            <a:lstStyle/>
            <a:p>
              <a:pPr algn="ctr">
                <a:lnSpc>
                  <a:spcPts val="2940"/>
                </a:lnSpc>
              </a:pPr>
              <a:r>
                <a:rPr lang="en-US" b="true" sz="2100">
                  <a:solidFill>
                    <a:srgbClr val="FFFFFF"/>
                  </a:solidFill>
                  <a:latin typeface="Open Sans Medium"/>
                  <a:ea typeface="Open Sans Medium"/>
                  <a:cs typeface="Open Sans Medium"/>
                  <a:sym typeface="Open Sans Medium"/>
                </a:rPr>
                <a:t>Page 19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DAHHrVDoH4I</dc:identifier>
  <dcterms:modified xsi:type="dcterms:W3CDTF">2011-08-01T06:04:30Z</dcterms:modified>
  <cp:revision>1</cp:revision>
  <dc:title>Copy of Row-Row SpGEMM</dc:title>
</cp:coreProperties>
</file>